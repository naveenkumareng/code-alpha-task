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276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14800" y="1371600"/>
            <a:ext cx="914400" cy="914400"/>
          </a:xfrm>
          <a:prstGeom prst="rect">
            <a:avLst/>
          </a:prstGeom>
        </p:spPr>
      </p:pic>
      <p:sp>
        <p:nvSpPr>
          <p:cNvPr id="3" name="Text 0"/>
          <p:cNvSpPr/>
          <p:nvPr/>
        </p:nvSpPr>
        <p:spPr>
          <a:xfrm>
            <a:off x="457200" y="2560320"/>
            <a:ext cx="8229600" cy="640080"/>
          </a:xfrm>
          <a:prstGeom prst="rect">
            <a:avLst/>
          </a:prstGeom>
          <a:noFill/>
          <a:ln/>
        </p:spPr>
        <p:txBody>
          <a:bodyPr wrap="square" rtlCol="0" anchor="ctr"/>
          <a:lstStyle/>
          <a:p>
            <a:pPr marL="0" indent="0" algn="ctr">
              <a:buNone/>
            </a:pPr>
            <a:r>
              <a:rPr lang="en-US" sz="4800" b="1" dirty="0">
                <a:solidFill>
                  <a:srgbClr val="FFFFFF"/>
                </a:solidFill>
                <a:latin typeface="Times New Roman" panose="02020603050405020304" pitchFamily="18" charset="0"/>
                <a:ea typeface="Arial Black" pitchFamily="34" charset="-122"/>
                <a:cs typeface="Times New Roman" panose="02020603050405020304" pitchFamily="18" charset="0"/>
              </a:rPr>
              <a:t>PHISHING AWARENESS</a:t>
            </a:r>
            <a:endParaRPr lang="en-US" sz="4800" dirty="0">
              <a:latin typeface="Times New Roman" panose="02020603050405020304" pitchFamily="18" charset="0"/>
              <a:cs typeface="Times New Roman" panose="02020603050405020304" pitchFamily="18" charset="0"/>
            </a:endParaRPr>
          </a:p>
        </p:txBody>
      </p:sp>
      <p:sp>
        <p:nvSpPr>
          <p:cNvPr id="4" name="Text 1"/>
          <p:cNvSpPr/>
          <p:nvPr/>
        </p:nvSpPr>
        <p:spPr>
          <a:xfrm>
            <a:off x="457200" y="3291840"/>
            <a:ext cx="8229600" cy="365760"/>
          </a:xfrm>
          <a:prstGeom prst="rect">
            <a:avLst/>
          </a:prstGeom>
          <a:noFill/>
          <a:ln/>
        </p:spPr>
        <p:txBody>
          <a:bodyPr wrap="square" rtlCol="0" anchor="ctr"/>
          <a:lstStyle/>
          <a:p>
            <a:pPr marL="0" indent="0" algn="ctr">
              <a:buNone/>
            </a:pPr>
            <a:r>
              <a:rPr lang="en-US" sz="2000" i="1" dirty="0">
                <a:solidFill>
                  <a:srgbClr val="F39C12"/>
                </a:solidFill>
                <a:latin typeface="Times New Roman" panose="02020603050405020304" pitchFamily="18" charset="0"/>
                <a:ea typeface="Arial" pitchFamily="34" charset="-122"/>
                <a:cs typeface="Times New Roman" panose="02020603050405020304" pitchFamily="18" charset="0"/>
              </a:rPr>
              <a:t>Stay Safe, Stay Alert, Stay Secure</a:t>
            </a:r>
            <a:endParaRPr lang="en-US" sz="2000" dirty="0">
              <a:latin typeface="Times New Roman" panose="02020603050405020304" pitchFamily="18" charset="0"/>
              <a:cs typeface="Times New Roman" panose="02020603050405020304" pitchFamily="18" charset="0"/>
            </a:endParaRPr>
          </a:p>
        </p:txBody>
      </p:sp>
      <p:sp>
        <p:nvSpPr>
          <p:cNvPr id="5" name="Text 2"/>
          <p:cNvSpPr/>
          <p:nvPr/>
        </p:nvSpPr>
        <p:spPr>
          <a:xfrm>
            <a:off x="457200" y="4389120"/>
            <a:ext cx="8229600" cy="274320"/>
          </a:xfrm>
          <a:prstGeom prst="rect">
            <a:avLst/>
          </a:prstGeom>
          <a:noFill/>
          <a:ln/>
        </p:spPr>
        <p:txBody>
          <a:bodyPr wrap="square" rtlCol="0" anchor="ctr"/>
          <a:lstStyle/>
          <a:p>
            <a:pPr marL="0" indent="0" algn="ctr">
              <a:buNone/>
            </a:pPr>
            <a:r>
              <a:rPr lang="en-US" sz="1400" dirty="0">
                <a:solidFill>
                  <a:srgbClr val="F8F9FA"/>
                </a:solidFill>
                <a:latin typeface="Times New Roman" panose="02020603050405020304" pitchFamily="18" charset="0"/>
                <a:ea typeface="Arial" pitchFamily="34" charset="-122"/>
                <a:cs typeface="Times New Roman" panose="02020603050405020304" pitchFamily="18" charset="0"/>
              </a:rPr>
              <a:t>Interactive Security Training Module</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4000" b="1" dirty="0">
                <a:solidFill>
                  <a:srgbClr val="1E3A5F"/>
                </a:solidFill>
                <a:latin typeface="Times New Roman" panose="02020603050405020304" pitchFamily="18" charset="0"/>
                <a:ea typeface="Arial Black" pitchFamily="34" charset="-122"/>
                <a:cs typeface="Times New Roman" panose="02020603050405020304" pitchFamily="18" charset="0"/>
              </a:rPr>
              <a:t>What is Phishing?</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1097280"/>
            <a:ext cx="3931920" cy="33832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822960" y="1371600"/>
            <a:ext cx="548640" cy="548640"/>
          </a:xfrm>
          <a:prstGeom prst="rect">
            <a:avLst/>
          </a:prstGeom>
        </p:spPr>
      </p:pic>
      <p:sp>
        <p:nvSpPr>
          <p:cNvPr id="5" name="Text 2"/>
          <p:cNvSpPr/>
          <p:nvPr/>
        </p:nvSpPr>
        <p:spPr>
          <a:xfrm>
            <a:off x="1463040" y="1417320"/>
            <a:ext cx="2743200" cy="365760"/>
          </a:xfrm>
          <a:prstGeom prst="rect">
            <a:avLst/>
          </a:prstGeom>
          <a:noFill/>
          <a:ln/>
        </p:spPr>
        <p:txBody>
          <a:bodyPr wrap="square" rtlCol="0" anchor="ctr"/>
          <a:lstStyle/>
          <a:p>
            <a:pPr marL="0" indent="0">
              <a:buNone/>
            </a:pPr>
            <a:r>
              <a:rPr lang="en-US" sz="1600" b="1" dirty="0">
                <a:solidFill>
                  <a:srgbClr val="C41E3A"/>
                </a:solidFill>
                <a:latin typeface="Times New Roman" panose="02020603050405020304" pitchFamily="18" charset="0"/>
                <a:ea typeface="Arial" pitchFamily="34" charset="-122"/>
                <a:cs typeface="Times New Roman" panose="02020603050405020304" pitchFamily="18" charset="0"/>
              </a:rPr>
              <a:t>DEFINITION</a:t>
            </a:r>
            <a:endParaRPr lang="en-US" sz="1600" dirty="0">
              <a:latin typeface="Times New Roman" panose="02020603050405020304" pitchFamily="18" charset="0"/>
              <a:cs typeface="Times New Roman" panose="02020603050405020304" pitchFamily="18" charset="0"/>
            </a:endParaRPr>
          </a:p>
        </p:txBody>
      </p:sp>
      <p:sp>
        <p:nvSpPr>
          <p:cNvPr id="6" name="Text 3"/>
          <p:cNvSpPr/>
          <p:nvPr/>
        </p:nvSpPr>
        <p:spPr>
          <a:xfrm>
            <a:off x="822960" y="1920240"/>
            <a:ext cx="3200400" cy="2286000"/>
          </a:xfrm>
          <a:prstGeom prst="rect">
            <a:avLst/>
          </a:prstGeom>
          <a:noFill/>
          <a:ln/>
        </p:spPr>
        <p:txBody>
          <a:bodyPr wrap="square" rtlCol="0" anchor="t"/>
          <a:lstStyle/>
          <a:p>
            <a:pPr marL="0" indent="0">
              <a:buNone/>
            </a:pP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Phishing is a cybercrime where attackers impersonate legitimate organizations to trick individuals into revealing sensitive information such as passwords, credit card numbers, or social security numbers. The term comes from 'fishing' for information using deceptive bait.</a:t>
            </a:r>
            <a:endParaRPr lang="en-US" sz="1300" dirty="0">
              <a:latin typeface="Times New Roman" panose="02020603050405020304" pitchFamily="18" charset="0"/>
              <a:cs typeface="Times New Roman" panose="02020603050405020304" pitchFamily="18" charset="0"/>
            </a:endParaRPr>
          </a:p>
        </p:txBody>
      </p:sp>
      <p:sp>
        <p:nvSpPr>
          <p:cNvPr id="7" name="Shape 4"/>
          <p:cNvSpPr/>
          <p:nvPr/>
        </p:nvSpPr>
        <p:spPr>
          <a:xfrm>
            <a:off x="4754880" y="1097280"/>
            <a:ext cx="3931920" cy="3383280"/>
          </a:xfrm>
          <a:prstGeom prst="rect">
            <a:avLst/>
          </a:prstGeom>
          <a:solidFill>
            <a:srgbClr val="C41E3A"/>
          </a:solidFill>
          <a:ln/>
          <a:effectLst>
            <a:outerShdw blurRad="101600" dist="38100" dir="8100000" algn="bl" rotWithShape="0">
              <a:srgbClr val="000000">
                <a:alpha val="12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8" name="Text 5"/>
          <p:cNvSpPr/>
          <p:nvPr/>
        </p:nvSpPr>
        <p:spPr>
          <a:xfrm>
            <a:off x="5029200" y="1371600"/>
            <a:ext cx="3383280" cy="36576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BY THE NUMBERS</a:t>
            </a:r>
            <a:endParaRPr lang="en-US" sz="1600" dirty="0">
              <a:latin typeface="Times New Roman" panose="02020603050405020304" pitchFamily="18" charset="0"/>
              <a:cs typeface="Times New Roman" panose="02020603050405020304" pitchFamily="18" charset="0"/>
            </a:endParaRPr>
          </a:p>
        </p:txBody>
      </p:sp>
      <p:sp>
        <p:nvSpPr>
          <p:cNvPr id="9" name="Text 6"/>
          <p:cNvSpPr/>
          <p:nvPr/>
        </p:nvSpPr>
        <p:spPr>
          <a:xfrm>
            <a:off x="5029200" y="1920240"/>
            <a:ext cx="3383280" cy="548640"/>
          </a:xfrm>
          <a:prstGeom prst="rect">
            <a:avLst/>
          </a:prstGeom>
          <a:noFill/>
          <a:ln/>
        </p:spPr>
        <p:txBody>
          <a:bodyPr wrap="square" rtlCol="0" anchor="ctr"/>
          <a:lstStyle/>
          <a:p>
            <a:pPr marL="0" indent="0" algn="ctr">
              <a:buNone/>
            </a:pPr>
            <a:r>
              <a:rPr lang="en-US" sz="4800" b="1" dirty="0">
                <a:solidFill>
                  <a:srgbClr val="F39C12"/>
                </a:solidFill>
                <a:latin typeface="Times New Roman" panose="02020603050405020304" pitchFamily="18" charset="0"/>
                <a:ea typeface="Impact" pitchFamily="34" charset="-122"/>
                <a:cs typeface="Times New Roman" panose="02020603050405020304" pitchFamily="18" charset="0"/>
              </a:rPr>
              <a:t>96%</a:t>
            </a:r>
            <a:endParaRPr lang="en-US" sz="4800" dirty="0">
              <a:latin typeface="Times New Roman" panose="02020603050405020304" pitchFamily="18" charset="0"/>
              <a:cs typeface="Times New Roman" panose="02020603050405020304" pitchFamily="18" charset="0"/>
            </a:endParaRPr>
          </a:p>
        </p:txBody>
      </p:sp>
      <p:sp>
        <p:nvSpPr>
          <p:cNvPr id="10" name="Text 7"/>
          <p:cNvSpPr/>
          <p:nvPr/>
        </p:nvSpPr>
        <p:spPr>
          <a:xfrm>
            <a:off x="5029200" y="2560320"/>
            <a:ext cx="3383280" cy="365760"/>
          </a:xfrm>
          <a:prstGeom prst="rect">
            <a:avLst/>
          </a:prstGeom>
          <a:noFill/>
          <a:ln/>
        </p:spPr>
        <p:txBody>
          <a:bodyPr wrap="square" rtlCol="0" anchor="ctr"/>
          <a:lstStyle/>
          <a:p>
            <a:pPr marL="0" indent="0" algn="ctr">
              <a:buNone/>
            </a:pPr>
            <a:r>
              <a:rPr lang="en-US" sz="1300" dirty="0">
                <a:solidFill>
                  <a:srgbClr val="FFFFFF"/>
                </a:solidFill>
                <a:latin typeface="Times New Roman" panose="02020603050405020304" pitchFamily="18" charset="0"/>
                <a:ea typeface="Arial" pitchFamily="34" charset="-122"/>
                <a:cs typeface="Times New Roman" panose="02020603050405020304" pitchFamily="18" charset="0"/>
              </a:rPr>
              <a:t>of phishing attacks arrive via email</a:t>
            </a:r>
            <a:endParaRPr lang="en-US" sz="1300" dirty="0">
              <a:latin typeface="Times New Roman" panose="02020603050405020304" pitchFamily="18" charset="0"/>
              <a:cs typeface="Times New Roman" panose="02020603050405020304" pitchFamily="18" charset="0"/>
            </a:endParaRPr>
          </a:p>
        </p:txBody>
      </p:sp>
      <p:sp>
        <p:nvSpPr>
          <p:cNvPr id="11" name="Text 8"/>
          <p:cNvSpPr/>
          <p:nvPr/>
        </p:nvSpPr>
        <p:spPr>
          <a:xfrm>
            <a:off x="5029200" y="3108960"/>
            <a:ext cx="3383280" cy="457200"/>
          </a:xfrm>
          <a:prstGeom prst="rect">
            <a:avLst/>
          </a:prstGeom>
          <a:noFill/>
          <a:ln/>
        </p:spPr>
        <p:txBody>
          <a:bodyPr wrap="square" rtlCol="0" anchor="ctr"/>
          <a:lstStyle/>
          <a:p>
            <a:pPr marL="0" indent="0" algn="ctr">
              <a:buNone/>
            </a:pPr>
            <a:r>
              <a:rPr lang="en-US" sz="3200" b="1" dirty="0">
                <a:solidFill>
                  <a:srgbClr val="F39C12"/>
                </a:solidFill>
                <a:latin typeface="Times New Roman" panose="02020603050405020304" pitchFamily="18" charset="0"/>
                <a:ea typeface="Impact" pitchFamily="34" charset="-122"/>
                <a:cs typeface="Times New Roman" panose="02020603050405020304" pitchFamily="18" charset="0"/>
              </a:rPr>
              <a:t>$10.3 BILLION</a:t>
            </a:r>
            <a:endParaRPr lang="en-US" sz="3200" dirty="0">
              <a:latin typeface="Times New Roman" panose="02020603050405020304" pitchFamily="18" charset="0"/>
              <a:cs typeface="Times New Roman" panose="02020603050405020304" pitchFamily="18" charset="0"/>
            </a:endParaRPr>
          </a:p>
        </p:txBody>
      </p:sp>
      <p:sp>
        <p:nvSpPr>
          <p:cNvPr id="12" name="Text 9"/>
          <p:cNvSpPr/>
          <p:nvPr/>
        </p:nvSpPr>
        <p:spPr>
          <a:xfrm>
            <a:off x="5029200" y="3657600"/>
            <a:ext cx="3383280" cy="365760"/>
          </a:xfrm>
          <a:prstGeom prst="rect">
            <a:avLst/>
          </a:prstGeom>
          <a:noFill/>
          <a:ln/>
        </p:spPr>
        <p:txBody>
          <a:bodyPr wrap="square" rtlCol="0" anchor="ctr"/>
          <a:lstStyle/>
          <a:p>
            <a:pPr marL="0" indent="0" algn="ctr">
              <a:buNone/>
            </a:pPr>
            <a:r>
              <a:rPr lang="en-US" sz="1200" dirty="0">
                <a:solidFill>
                  <a:srgbClr val="FFFFFF"/>
                </a:solidFill>
                <a:latin typeface="Times New Roman" panose="02020603050405020304" pitchFamily="18" charset="0"/>
                <a:ea typeface="Arial" pitchFamily="34" charset="-122"/>
                <a:cs typeface="Times New Roman" panose="02020603050405020304" pitchFamily="18" charset="0"/>
              </a:rPr>
              <a:t>lost to phishing scams annually in the US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4000" b="1" dirty="0">
                <a:solidFill>
                  <a:srgbClr val="1E3A5F"/>
                </a:solidFill>
                <a:latin typeface="Times New Roman" panose="02020603050405020304" pitchFamily="18" charset="0"/>
                <a:ea typeface="Arial Black" pitchFamily="34" charset="-122"/>
                <a:cs typeface="Times New Roman" panose="02020603050405020304" pitchFamily="18" charset="0"/>
              </a:rPr>
              <a:t>Types of Phishing Attacks</a:t>
            </a:r>
            <a:endParaRPr lang="en-US" sz="40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1188720"/>
            <a:ext cx="40233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4" name="Shape 2"/>
          <p:cNvSpPr/>
          <p:nvPr/>
        </p:nvSpPr>
        <p:spPr>
          <a:xfrm>
            <a:off x="457200" y="1188720"/>
            <a:ext cx="73152" cy="137160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685800" y="1417320"/>
            <a:ext cx="457200" cy="457200"/>
          </a:xfrm>
          <a:prstGeom prst="rect">
            <a:avLst/>
          </a:prstGeom>
        </p:spPr>
      </p:pic>
      <p:sp>
        <p:nvSpPr>
          <p:cNvPr id="6" name="Text 3"/>
          <p:cNvSpPr/>
          <p:nvPr/>
        </p:nvSpPr>
        <p:spPr>
          <a:xfrm>
            <a:off x="1280160" y="1417320"/>
            <a:ext cx="3017520" cy="365760"/>
          </a:xfrm>
          <a:prstGeom prst="rect">
            <a:avLst/>
          </a:prstGeom>
          <a:noFill/>
          <a:ln/>
        </p:spPr>
        <p:txBody>
          <a:bodyPr wrap="square" rtlCol="0" anchor="ctr"/>
          <a:lstStyle/>
          <a:p>
            <a:pPr marL="0" indent="0">
              <a:buNone/>
            </a:pPr>
            <a:r>
              <a:rPr lang="en-US" sz="1600" b="1" dirty="0">
                <a:solidFill>
                  <a:srgbClr val="1E3A5F"/>
                </a:solidFill>
                <a:latin typeface="Times New Roman" panose="02020603050405020304" pitchFamily="18" charset="0"/>
                <a:ea typeface="Arial" pitchFamily="34" charset="-122"/>
                <a:cs typeface="Times New Roman" panose="02020603050405020304" pitchFamily="18" charset="0"/>
              </a:rPr>
              <a:t>Email Phishing</a:t>
            </a:r>
            <a:endParaRPr lang="en-US" sz="1600" dirty="0">
              <a:latin typeface="Times New Roman" panose="02020603050405020304" pitchFamily="18" charset="0"/>
              <a:cs typeface="Times New Roman" panose="02020603050405020304" pitchFamily="18" charset="0"/>
            </a:endParaRPr>
          </a:p>
        </p:txBody>
      </p:sp>
      <p:sp>
        <p:nvSpPr>
          <p:cNvPr id="7" name="Text 4"/>
          <p:cNvSpPr/>
          <p:nvPr/>
        </p:nvSpPr>
        <p:spPr>
          <a:xfrm>
            <a:off x="685800" y="1874520"/>
            <a:ext cx="3611880" cy="548640"/>
          </a:xfrm>
          <a:prstGeom prst="rect">
            <a:avLst/>
          </a:prstGeom>
          <a:noFill/>
          <a:ln/>
        </p:spPr>
        <p:txBody>
          <a:bodyPr wrap="square" rtlCol="0" anchor="ctr"/>
          <a:lstStyle/>
          <a:p>
            <a:pPr marL="0" indent="0">
              <a:buNone/>
            </a:pP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Mass emails sent to many users impersonating trusted organizations</a:t>
            </a:r>
            <a:endParaRPr lang="en-US" sz="1200" dirty="0">
              <a:latin typeface="Times New Roman" panose="02020603050405020304" pitchFamily="18" charset="0"/>
              <a:cs typeface="Times New Roman" panose="02020603050405020304" pitchFamily="18" charset="0"/>
            </a:endParaRPr>
          </a:p>
        </p:txBody>
      </p:sp>
      <p:sp>
        <p:nvSpPr>
          <p:cNvPr id="8" name="Shape 5"/>
          <p:cNvSpPr/>
          <p:nvPr/>
        </p:nvSpPr>
        <p:spPr>
          <a:xfrm>
            <a:off x="4937760" y="1188720"/>
            <a:ext cx="40233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9" name="Shape 6"/>
          <p:cNvSpPr/>
          <p:nvPr/>
        </p:nvSpPr>
        <p:spPr>
          <a:xfrm>
            <a:off x="4937760" y="1188720"/>
            <a:ext cx="73152" cy="137160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pic>
        <p:nvPicPr>
          <p:cNvPr id="10" name="Image 1" descr="preencoded.png"/>
          <p:cNvPicPr>
            <a:picLocks noChangeAspect="1"/>
          </p:cNvPicPr>
          <p:nvPr/>
        </p:nvPicPr>
        <p:blipFill>
          <a:blip r:embed="rId4"/>
          <a:stretch>
            <a:fillRect/>
          </a:stretch>
        </p:blipFill>
        <p:spPr>
          <a:xfrm>
            <a:off x="5166360" y="1417320"/>
            <a:ext cx="457200" cy="457200"/>
          </a:xfrm>
          <a:prstGeom prst="rect">
            <a:avLst/>
          </a:prstGeom>
        </p:spPr>
      </p:pic>
      <p:sp>
        <p:nvSpPr>
          <p:cNvPr id="11" name="Text 7"/>
          <p:cNvSpPr/>
          <p:nvPr/>
        </p:nvSpPr>
        <p:spPr>
          <a:xfrm>
            <a:off x="5760720" y="1417320"/>
            <a:ext cx="3017520" cy="365760"/>
          </a:xfrm>
          <a:prstGeom prst="rect">
            <a:avLst/>
          </a:prstGeom>
          <a:noFill/>
          <a:ln/>
        </p:spPr>
        <p:txBody>
          <a:bodyPr wrap="square" rtlCol="0" anchor="ctr"/>
          <a:lstStyle/>
          <a:p>
            <a:pPr marL="0" indent="0">
              <a:buNone/>
            </a:pPr>
            <a:r>
              <a:rPr lang="en-US" sz="1600" b="1" dirty="0">
                <a:solidFill>
                  <a:srgbClr val="1E3A5F"/>
                </a:solidFill>
                <a:latin typeface="Times New Roman" panose="02020603050405020304" pitchFamily="18" charset="0"/>
                <a:ea typeface="Arial" pitchFamily="34" charset="-122"/>
                <a:cs typeface="Times New Roman" panose="02020603050405020304" pitchFamily="18" charset="0"/>
              </a:rPr>
              <a:t>Smishing (SMS)</a:t>
            </a:r>
            <a:endParaRPr lang="en-US" sz="1600" dirty="0">
              <a:latin typeface="Times New Roman" panose="02020603050405020304" pitchFamily="18" charset="0"/>
              <a:cs typeface="Times New Roman" panose="02020603050405020304" pitchFamily="18" charset="0"/>
            </a:endParaRPr>
          </a:p>
        </p:txBody>
      </p:sp>
      <p:sp>
        <p:nvSpPr>
          <p:cNvPr id="12" name="Text 8"/>
          <p:cNvSpPr/>
          <p:nvPr/>
        </p:nvSpPr>
        <p:spPr>
          <a:xfrm>
            <a:off x="5166360" y="1874520"/>
            <a:ext cx="3611880" cy="548640"/>
          </a:xfrm>
          <a:prstGeom prst="rect">
            <a:avLst/>
          </a:prstGeom>
          <a:noFill/>
          <a:ln/>
        </p:spPr>
        <p:txBody>
          <a:bodyPr wrap="square" rtlCol="0" anchor="ctr"/>
          <a:lstStyle/>
          <a:p>
            <a:pPr marL="0" indent="0">
              <a:buNone/>
            </a:pP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Phishing via text messages with malicious links or requests</a:t>
            </a:r>
            <a:endParaRPr lang="en-US" sz="1200" dirty="0">
              <a:latin typeface="Times New Roman" panose="02020603050405020304" pitchFamily="18" charset="0"/>
              <a:cs typeface="Times New Roman" panose="02020603050405020304" pitchFamily="18" charset="0"/>
            </a:endParaRPr>
          </a:p>
        </p:txBody>
      </p:sp>
      <p:sp>
        <p:nvSpPr>
          <p:cNvPr id="13" name="Shape 9"/>
          <p:cNvSpPr/>
          <p:nvPr/>
        </p:nvSpPr>
        <p:spPr>
          <a:xfrm>
            <a:off x="457200" y="2926080"/>
            <a:ext cx="40233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4" name="Shape 10"/>
          <p:cNvSpPr/>
          <p:nvPr/>
        </p:nvSpPr>
        <p:spPr>
          <a:xfrm>
            <a:off x="457200" y="2926080"/>
            <a:ext cx="73152" cy="137160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pic>
        <p:nvPicPr>
          <p:cNvPr id="15" name="Image 2" descr="preencoded.png"/>
          <p:cNvPicPr>
            <a:picLocks noChangeAspect="1"/>
          </p:cNvPicPr>
          <p:nvPr/>
        </p:nvPicPr>
        <p:blipFill>
          <a:blip r:embed="rId4"/>
          <a:stretch>
            <a:fillRect/>
          </a:stretch>
        </p:blipFill>
        <p:spPr>
          <a:xfrm>
            <a:off x="685800" y="3154680"/>
            <a:ext cx="457200" cy="457200"/>
          </a:xfrm>
          <a:prstGeom prst="rect">
            <a:avLst/>
          </a:prstGeom>
        </p:spPr>
      </p:pic>
      <p:sp>
        <p:nvSpPr>
          <p:cNvPr id="16" name="Text 11"/>
          <p:cNvSpPr/>
          <p:nvPr/>
        </p:nvSpPr>
        <p:spPr>
          <a:xfrm>
            <a:off x="1280160" y="3154680"/>
            <a:ext cx="3017520" cy="365760"/>
          </a:xfrm>
          <a:prstGeom prst="rect">
            <a:avLst/>
          </a:prstGeom>
          <a:noFill/>
          <a:ln/>
        </p:spPr>
        <p:txBody>
          <a:bodyPr wrap="square" rtlCol="0" anchor="ctr"/>
          <a:lstStyle/>
          <a:p>
            <a:pPr marL="0" indent="0">
              <a:buNone/>
            </a:pPr>
            <a:r>
              <a:rPr lang="en-US" sz="1600" b="1" dirty="0">
                <a:solidFill>
                  <a:srgbClr val="1E3A5F"/>
                </a:solidFill>
                <a:latin typeface="Times New Roman" panose="02020603050405020304" pitchFamily="18" charset="0"/>
                <a:ea typeface="Arial" pitchFamily="34" charset="-122"/>
                <a:cs typeface="Times New Roman" panose="02020603050405020304" pitchFamily="18" charset="0"/>
              </a:rPr>
              <a:t>Vishing (Voice)</a:t>
            </a:r>
            <a:endParaRPr lang="en-US" sz="1600" dirty="0">
              <a:latin typeface="Times New Roman" panose="02020603050405020304" pitchFamily="18" charset="0"/>
              <a:cs typeface="Times New Roman" panose="02020603050405020304" pitchFamily="18" charset="0"/>
            </a:endParaRPr>
          </a:p>
        </p:txBody>
      </p:sp>
      <p:sp>
        <p:nvSpPr>
          <p:cNvPr id="17" name="Text 12"/>
          <p:cNvSpPr/>
          <p:nvPr/>
        </p:nvSpPr>
        <p:spPr>
          <a:xfrm>
            <a:off x="685800" y="3611880"/>
            <a:ext cx="3611880" cy="548640"/>
          </a:xfrm>
          <a:prstGeom prst="rect">
            <a:avLst/>
          </a:prstGeom>
          <a:noFill/>
          <a:ln/>
        </p:spPr>
        <p:txBody>
          <a:bodyPr wrap="square" rtlCol="0" anchor="ctr"/>
          <a:lstStyle/>
          <a:p>
            <a:pPr marL="0" indent="0">
              <a:buNone/>
            </a:pP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Phone calls from scammers pretending to be legitimate entities</a:t>
            </a:r>
            <a:endParaRPr lang="en-US" sz="1200" dirty="0">
              <a:latin typeface="Times New Roman" panose="02020603050405020304" pitchFamily="18" charset="0"/>
              <a:cs typeface="Times New Roman" panose="02020603050405020304" pitchFamily="18" charset="0"/>
            </a:endParaRPr>
          </a:p>
        </p:txBody>
      </p:sp>
      <p:sp>
        <p:nvSpPr>
          <p:cNvPr id="18" name="Shape 13"/>
          <p:cNvSpPr/>
          <p:nvPr/>
        </p:nvSpPr>
        <p:spPr>
          <a:xfrm>
            <a:off x="4937760" y="2926080"/>
            <a:ext cx="40233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9" name="Shape 14"/>
          <p:cNvSpPr/>
          <p:nvPr/>
        </p:nvSpPr>
        <p:spPr>
          <a:xfrm>
            <a:off x="4937760" y="2926080"/>
            <a:ext cx="73152" cy="137160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pic>
        <p:nvPicPr>
          <p:cNvPr id="20" name="Image 3" descr="preencoded.png"/>
          <p:cNvPicPr>
            <a:picLocks noChangeAspect="1"/>
          </p:cNvPicPr>
          <p:nvPr/>
        </p:nvPicPr>
        <p:blipFill>
          <a:blip r:embed="rId5"/>
          <a:stretch>
            <a:fillRect/>
          </a:stretch>
        </p:blipFill>
        <p:spPr>
          <a:xfrm>
            <a:off x="5166360" y="3154680"/>
            <a:ext cx="457200" cy="457200"/>
          </a:xfrm>
          <a:prstGeom prst="rect">
            <a:avLst/>
          </a:prstGeom>
        </p:spPr>
      </p:pic>
      <p:sp>
        <p:nvSpPr>
          <p:cNvPr id="21" name="Text 15"/>
          <p:cNvSpPr/>
          <p:nvPr/>
        </p:nvSpPr>
        <p:spPr>
          <a:xfrm>
            <a:off x="5760720" y="3154680"/>
            <a:ext cx="3017520" cy="365760"/>
          </a:xfrm>
          <a:prstGeom prst="rect">
            <a:avLst/>
          </a:prstGeom>
          <a:noFill/>
          <a:ln/>
        </p:spPr>
        <p:txBody>
          <a:bodyPr wrap="square" rtlCol="0" anchor="ctr"/>
          <a:lstStyle/>
          <a:p>
            <a:pPr marL="0" indent="0">
              <a:buNone/>
            </a:pPr>
            <a:r>
              <a:rPr lang="en-US" sz="1600" b="1" dirty="0">
                <a:solidFill>
                  <a:srgbClr val="1E3A5F"/>
                </a:solidFill>
                <a:latin typeface="Times New Roman" panose="02020603050405020304" pitchFamily="18" charset="0"/>
                <a:ea typeface="Arial" pitchFamily="34" charset="-122"/>
                <a:cs typeface="Times New Roman" panose="02020603050405020304" pitchFamily="18" charset="0"/>
              </a:rPr>
              <a:t>Spear Phishing</a:t>
            </a:r>
            <a:endParaRPr lang="en-US" sz="1600" dirty="0">
              <a:latin typeface="Times New Roman" panose="02020603050405020304" pitchFamily="18" charset="0"/>
              <a:cs typeface="Times New Roman" panose="02020603050405020304" pitchFamily="18" charset="0"/>
            </a:endParaRPr>
          </a:p>
        </p:txBody>
      </p:sp>
      <p:sp>
        <p:nvSpPr>
          <p:cNvPr id="22" name="Text 16"/>
          <p:cNvSpPr/>
          <p:nvPr/>
        </p:nvSpPr>
        <p:spPr>
          <a:xfrm>
            <a:off x="5166360" y="3611880"/>
            <a:ext cx="3611880" cy="548640"/>
          </a:xfrm>
          <a:prstGeom prst="rect">
            <a:avLst/>
          </a:prstGeom>
          <a:noFill/>
          <a:ln/>
        </p:spPr>
        <p:txBody>
          <a:bodyPr wrap="square" rtlCol="0" anchor="ctr"/>
          <a:lstStyle/>
          <a:p>
            <a:pPr marL="0" indent="0">
              <a:buNone/>
            </a:pP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Targeted attacks on specific individuals using personalized information</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000" b="1" dirty="0">
                <a:solidFill>
                  <a:srgbClr val="1E3A5F"/>
                </a:solidFill>
                <a:latin typeface="Times New Roman" panose="02020603050405020304" pitchFamily="18" charset="0"/>
                <a:ea typeface="Arial Black" pitchFamily="34" charset="-122"/>
                <a:cs typeface="Times New Roman" panose="02020603050405020304" pitchFamily="18" charset="0"/>
              </a:rPr>
              <a:t>Red Flags: How to Spot Phishing Emails</a:t>
            </a:r>
            <a:endParaRPr lang="en-US" sz="30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7321732" y="398417"/>
            <a:ext cx="457200" cy="457200"/>
          </a:xfrm>
          <a:prstGeom prst="rect">
            <a:avLst/>
          </a:prstGeom>
        </p:spPr>
      </p:pic>
      <p:sp>
        <p:nvSpPr>
          <p:cNvPr id="4" name="Text 1"/>
          <p:cNvSpPr/>
          <p:nvPr/>
        </p:nvSpPr>
        <p:spPr>
          <a:xfrm>
            <a:off x="1371600" y="12801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Sender email address looks suspicious or slightly misspelled</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5303520" y="12801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Urgent or threatening language demanding immediate action</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1371600" y="17373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Generic greetings like 'Dear Customer' instead of your name</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5303520" y="17373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Requests for sensitive information like passwords or SSN</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1371600" y="21945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Suspicious links that don't match the claimed destination</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5303520" y="21945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Poor grammar, spelling mistakes, or awkward phrasing</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1371600" y="26517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Unexpected attachments, especially .exe, .zip, or .scr files</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5303520" y="2651760"/>
            <a:ext cx="3474720" cy="365760"/>
          </a:xfrm>
          <a:prstGeom prst="rect">
            <a:avLst/>
          </a:prstGeom>
          <a:noFill/>
          <a:ln/>
        </p:spPr>
        <p:txBody>
          <a:bodyPr wrap="square" rtlCol="0" anchor="ctr"/>
          <a:lstStyle/>
          <a:p>
            <a:pPr marL="0" indent="0">
              <a:buNone/>
            </a:pPr>
            <a:r>
              <a:rPr lang="en-US" sz="1400" b="1" dirty="0">
                <a:solidFill>
                  <a:srgbClr val="C41E3A"/>
                </a:solidFill>
                <a:latin typeface="Times New Roman" panose="02020603050405020304" pitchFamily="18" charset="0"/>
                <a:ea typeface="Arial" pitchFamily="34" charset="-122"/>
                <a:cs typeface="Times New Roman" panose="02020603050405020304" pitchFamily="18" charset="0"/>
              </a:rPr>
              <a:t>• </a:t>
            </a: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Offers that seem too good to be true</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000" b="1" dirty="0">
                <a:solidFill>
                  <a:srgbClr val="1E3A5F"/>
                </a:solidFill>
                <a:latin typeface="Arial Black" pitchFamily="34" charset="0"/>
                <a:ea typeface="Arial Black" pitchFamily="34" charset="-122"/>
                <a:cs typeface="Arial Black" pitchFamily="34" charset="-120"/>
              </a:rPr>
              <a:t>Real-World Example: Fake Bank Email</a:t>
            </a:r>
            <a:endParaRPr lang="en-US" sz="3000" dirty="0"/>
          </a:p>
        </p:txBody>
      </p:sp>
      <p:sp>
        <p:nvSpPr>
          <p:cNvPr id="3" name="Shape 1"/>
          <p:cNvSpPr/>
          <p:nvPr/>
        </p:nvSpPr>
        <p:spPr>
          <a:xfrm>
            <a:off x="457200" y="1097280"/>
            <a:ext cx="5029200" cy="34747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Shape 2"/>
          <p:cNvSpPr/>
          <p:nvPr/>
        </p:nvSpPr>
        <p:spPr>
          <a:xfrm>
            <a:off x="457200" y="1097280"/>
            <a:ext cx="5029200" cy="457200"/>
          </a:xfrm>
          <a:prstGeom prst="rect">
            <a:avLst/>
          </a:prstGeom>
          <a:solidFill>
            <a:srgbClr val="1E3A5F"/>
          </a:solidFill>
          <a:ln/>
        </p:spPr>
        <p:txBody>
          <a:bodyPr/>
          <a:lstStyle/>
          <a:p>
            <a:endParaRPr lang="en-IN"/>
          </a:p>
        </p:txBody>
      </p:sp>
      <p:sp>
        <p:nvSpPr>
          <p:cNvPr id="5" name="Text 3"/>
          <p:cNvSpPr/>
          <p:nvPr/>
        </p:nvSpPr>
        <p:spPr>
          <a:xfrm>
            <a:off x="640080" y="1234440"/>
            <a:ext cx="4663440" cy="2743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From: </a:t>
            </a:r>
            <a:r>
              <a:rPr lang="en-US" sz="1000" dirty="0">
                <a:solidFill>
                  <a:srgbClr val="C41E3A"/>
                </a:solidFill>
                <a:latin typeface="Arial" pitchFamily="34" charset="0"/>
                <a:ea typeface="Arial" pitchFamily="34" charset="-122"/>
                <a:cs typeface="Arial" pitchFamily="34" charset="-120"/>
              </a:rPr>
              <a:t>security@secure-bankofamerica.com</a:t>
            </a:r>
            <a:endParaRPr lang="en-US" sz="1000" dirty="0"/>
          </a:p>
        </p:txBody>
      </p:sp>
      <p:sp>
        <p:nvSpPr>
          <p:cNvPr id="6" name="Text 4"/>
          <p:cNvSpPr/>
          <p:nvPr/>
        </p:nvSpPr>
        <p:spPr>
          <a:xfrm>
            <a:off x="640080" y="1737360"/>
            <a:ext cx="4663440" cy="274320"/>
          </a:xfrm>
          <a:prstGeom prst="rect">
            <a:avLst/>
          </a:prstGeom>
          <a:noFill/>
          <a:ln/>
        </p:spPr>
        <p:txBody>
          <a:bodyPr wrap="square" rtlCol="0" anchor="ctr"/>
          <a:lstStyle/>
          <a:p>
            <a:pPr marL="0" indent="0">
              <a:buNone/>
            </a:pPr>
            <a:r>
              <a:rPr lang="en-US" sz="1100" b="1" dirty="0">
                <a:solidFill>
                  <a:srgbClr val="2C3E50"/>
                </a:solidFill>
                <a:latin typeface="Arial" pitchFamily="34" charset="0"/>
                <a:ea typeface="Arial" pitchFamily="34" charset="-122"/>
                <a:cs typeface="Arial" pitchFamily="34" charset="-120"/>
              </a:rPr>
              <a:t>Subject: URGENT: Verify Your Account Immediately</a:t>
            </a:r>
            <a:endParaRPr lang="en-US" sz="1100" dirty="0"/>
          </a:p>
        </p:txBody>
      </p:sp>
      <p:sp>
        <p:nvSpPr>
          <p:cNvPr id="7" name="Text 5"/>
          <p:cNvSpPr/>
          <p:nvPr/>
        </p:nvSpPr>
        <p:spPr>
          <a:xfrm>
            <a:off x="640080" y="2103120"/>
            <a:ext cx="4663440" cy="228600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Dear Valued Customer,</a:t>
            </a:r>
            <a:endParaRPr lang="en-US" sz="1000" dirty="0"/>
          </a:p>
          <a:p>
            <a:pPr marL="0" indent="0">
              <a:buNone/>
            </a:pPr>
            <a:endParaRPr lang="en-US" sz="1000" dirty="0"/>
          </a:p>
          <a:p>
            <a:pPr marL="0" indent="0">
              <a:buNone/>
            </a:pPr>
            <a:r>
              <a:rPr lang="en-US" sz="1000" dirty="0">
                <a:solidFill>
                  <a:srgbClr val="2C3E50"/>
                </a:solidFill>
                <a:latin typeface="Arial" pitchFamily="34" charset="0"/>
                <a:ea typeface="Arial" pitchFamily="34" charset="-122"/>
                <a:cs typeface="Arial" pitchFamily="34" charset="-120"/>
              </a:rPr>
              <a:t>We have detected suspicious activity on your account. Your account will be locked within 24 hours unless you verify your identity immediately.</a:t>
            </a:r>
            <a:endParaRPr lang="en-US" sz="1000" dirty="0"/>
          </a:p>
          <a:p>
            <a:pPr marL="0" indent="0">
              <a:buNone/>
            </a:pPr>
            <a:endParaRPr lang="en-US" sz="1000" dirty="0"/>
          </a:p>
          <a:p>
            <a:pPr marL="0" indent="0">
              <a:buNone/>
            </a:pPr>
            <a:r>
              <a:rPr lang="en-US" sz="1000" dirty="0">
                <a:solidFill>
                  <a:srgbClr val="2C3E50"/>
                </a:solidFill>
                <a:latin typeface="Arial" pitchFamily="34" charset="0"/>
                <a:ea typeface="Arial" pitchFamily="34" charset="-122"/>
                <a:cs typeface="Arial" pitchFamily="34" charset="-120"/>
              </a:rPr>
              <a:t>Click here to verify: http://secure-boa-login.tk/verify</a:t>
            </a:r>
            <a:endParaRPr lang="en-US" sz="1000" dirty="0"/>
          </a:p>
          <a:p>
            <a:pPr marL="0" indent="0">
              <a:buNone/>
            </a:pPr>
            <a:endParaRPr lang="en-US" sz="1000" dirty="0"/>
          </a:p>
          <a:p>
            <a:pPr marL="0" indent="0">
              <a:buNone/>
            </a:pPr>
            <a:r>
              <a:rPr lang="en-US" sz="1000" dirty="0">
                <a:solidFill>
                  <a:srgbClr val="2C3E50"/>
                </a:solidFill>
                <a:latin typeface="Arial" pitchFamily="34" charset="0"/>
                <a:ea typeface="Arial" pitchFamily="34" charset="-122"/>
                <a:cs typeface="Arial" pitchFamily="34" charset="-120"/>
              </a:rPr>
              <a:t>Failure to respond will result in permanent account suspension.</a:t>
            </a:r>
            <a:endParaRPr lang="en-US" sz="1000" dirty="0"/>
          </a:p>
          <a:p>
            <a:pPr marL="0" indent="0">
              <a:buNone/>
            </a:pPr>
            <a:endParaRPr lang="en-US" sz="1000" dirty="0"/>
          </a:p>
          <a:p>
            <a:pPr marL="0" indent="0">
              <a:buNone/>
            </a:pPr>
            <a:r>
              <a:rPr lang="en-US" sz="1000" dirty="0">
                <a:solidFill>
                  <a:srgbClr val="2C3E50"/>
                </a:solidFill>
                <a:latin typeface="Arial" pitchFamily="34" charset="0"/>
                <a:ea typeface="Arial" pitchFamily="34" charset="-122"/>
                <a:cs typeface="Arial" pitchFamily="34" charset="-120"/>
              </a:rPr>
              <a:t>Bank of America Security Team</a:t>
            </a:r>
            <a:endParaRPr lang="en-US" sz="1000" dirty="0"/>
          </a:p>
        </p:txBody>
      </p:sp>
      <p:sp>
        <p:nvSpPr>
          <p:cNvPr id="8" name="Shape 6"/>
          <p:cNvSpPr/>
          <p:nvPr/>
        </p:nvSpPr>
        <p:spPr>
          <a:xfrm>
            <a:off x="5760720" y="1097280"/>
            <a:ext cx="2926080" cy="3474720"/>
          </a:xfrm>
          <a:prstGeom prst="rect">
            <a:avLst/>
          </a:prstGeom>
          <a:solidFill>
            <a:srgbClr val="C41E3A"/>
          </a:solidFill>
          <a:ln/>
          <a:effectLst>
            <a:outerShdw blurRad="101600" dist="38100" dir="8100000" algn="bl" rotWithShape="0">
              <a:srgbClr val="000000">
                <a:alpha val="12000"/>
              </a:srgbClr>
            </a:outerShdw>
          </a:effectLst>
        </p:spPr>
        <p:txBody>
          <a:bodyPr/>
          <a:lstStyle/>
          <a:p>
            <a:endParaRPr lang="en-IN"/>
          </a:p>
        </p:txBody>
      </p:sp>
      <p:sp>
        <p:nvSpPr>
          <p:cNvPr id="9" name="Text 7"/>
          <p:cNvSpPr/>
          <p:nvPr/>
        </p:nvSpPr>
        <p:spPr>
          <a:xfrm>
            <a:off x="5943600" y="1280160"/>
            <a:ext cx="256032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WARNING SIGNS</a:t>
            </a:r>
            <a:endParaRPr lang="en-US" sz="1400" dirty="0"/>
          </a:p>
        </p:txBody>
      </p:sp>
      <p:sp>
        <p:nvSpPr>
          <p:cNvPr id="10" name="Text 8"/>
          <p:cNvSpPr/>
          <p:nvPr/>
        </p:nvSpPr>
        <p:spPr>
          <a:xfrm>
            <a:off x="5943600" y="1828800"/>
            <a:ext cx="2560320" cy="365760"/>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1. Suspicious sender domain (not @bankofamerica.com)</a:t>
            </a:r>
            <a:endParaRPr lang="en-US" sz="1000" dirty="0"/>
          </a:p>
        </p:txBody>
      </p:sp>
      <p:sp>
        <p:nvSpPr>
          <p:cNvPr id="11" name="Text 9"/>
          <p:cNvSpPr/>
          <p:nvPr/>
        </p:nvSpPr>
        <p:spPr>
          <a:xfrm>
            <a:off x="5943600" y="2240280"/>
            <a:ext cx="2560320" cy="365760"/>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2. Creates urgency and fear</a:t>
            </a:r>
            <a:endParaRPr lang="en-US" sz="1000" dirty="0"/>
          </a:p>
        </p:txBody>
      </p:sp>
      <p:sp>
        <p:nvSpPr>
          <p:cNvPr id="12" name="Text 10"/>
          <p:cNvSpPr/>
          <p:nvPr/>
        </p:nvSpPr>
        <p:spPr>
          <a:xfrm>
            <a:off x="5943600" y="2651760"/>
            <a:ext cx="2560320" cy="365760"/>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3. Generic greeting</a:t>
            </a:r>
            <a:endParaRPr lang="en-US" sz="1000" dirty="0"/>
          </a:p>
        </p:txBody>
      </p:sp>
      <p:sp>
        <p:nvSpPr>
          <p:cNvPr id="13" name="Text 11"/>
          <p:cNvSpPr/>
          <p:nvPr/>
        </p:nvSpPr>
        <p:spPr>
          <a:xfrm>
            <a:off x="5943600" y="3063240"/>
            <a:ext cx="2560320" cy="365760"/>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4. Suspicious URL with unusual domain (.tk)</a:t>
            </a:r>
            <a:endParaRPr lang="en-US" sz="1000" dirty="0"/>
          </a:p>
        </p:txBody>
      </p:sp>
      <p:sp>
        <p:nvSpPr>
          <p:cNvPr id="14" name="Text 12"/>
          <p:cNvSpPr/>
          <p:nvPr/>
        </p:nvSpPr>
        <p:spPr>
          <a:xfrm>
            <a:off x="5943600" y="3474720"/>
            <a:ext cx="2560320" cy="365760"/>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5. Threats of account closure</a:t>
            </a:r>
            <a:endParaRPr lang="en-US" sz="1000" dirty="0"/>
          </a:p>
        </p:txBody>
      </p:sp>
      <p:sp>
        <p:nvSpPr>
          <p:cNvPr id="15" name="Text 13"/>
          <p:cNvSpPr/>
          <p:nvPr/>
        </p:nvSpPr>
        <p:spPr>
          <a:xfrm>
            <a:off x="5943600" y="3886200"/>
            <a:ext cx="2560320" cy="365760"/>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6. Grammar issues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4000" b="1" dirty="0">
                <a:solidFill>
                  <a:srgbClr val="1E3A5F"/>
                </a:solidFill>
                <a:latin typeface="Arial Black" pitchFamily="34" charset="0"/>
                <a:ea typeface="Arial Black" pitchFamily="34" charset="-122"/>
                <a:cs typeface="Arial Black" pitchFamily="34" charset="-120"/>
              </a:rPr>
              <a:t>Recognizing Fake Websites</a:t>
            </a:r>
            <a:endParaRPr lang="en-US" sz="4000" dirty="0"/>
          </a:p>
        </p:txBody>
      </p:sp>
      <p:pic>
        <p:nvPicPr>
          <p:cNvPr id="3" name="Image 0" descr="preencoded.png"/>
          <p:cNvPicPr>
            <a:picLocks noChangeAspect="1"/>
          </p:cNvPicPr>
          <p:nvPr/>
        </p:nvPicPr>
        <p:blipFill>
          <a:blip r:embed="rId3"/>
          <a:stretch>
            <a:fillRect/>
          </a:stretch>
        </p:blipFill>
        <p:spPr>
          <a:xfrm>
            <a:off x="640080" y="1188720"/>
            <a:ext cx="457200" cy="457200"/>
          </a:xfrm>
          <a:prstGeom prst="rect">
            <a:avLst/>
          </a:prstGeom>
        </p:spPr>
      </p:pic>
      <p:sp>
        <p:nvSpPr>
          <p:cNvPr id="4" name="Text 1"/>
          <p:cNvSpPr/>
          <p:nvPr/>
        </p:nvSpPr>
        <p:spPr>
          <a:xfrm>
            <a:off x="1188720" y="1261872"/>
            <a:ext cx="7315200" cy="320040"/>
          </a:xfrm>
          <a:prstGeom prst="rect">
            <a:avLst/>
          </a:prstGeom>
          <a:noFill/>
          <a:ln/>
        </p:spPr>
        <p:txBody>
          <a:bodyPr wrap="square" rtlCol="0" anchor="ctr"/>
          <a:lstStyle/>
          <a:p>
            <a:pPr marL="0" indent="0">
              <a:buNone/>
            </a:pPr>
            <a:r>
              <a:rPr lang="en-US" sz="1800" b="1" dirty="0">
                <a:solidFill>
                  <a:srgbClr val="C41E3A"/>
                </a:solidFill>
                <a:latin typeface="Arial" pitchFamily="34" charset="0"/>
                <a:ea typeface="Arial" pitchFamily="34" charset="-122"/>
                <a:cs typeface="Arial" pitchFamily="34" charset="-120"/>
              </a:rPr>
              <a:t>CHECK THE URL CAREFULLY</a:t>
            </a:r>
            <a:endParaRPr lang="en-US" sz="1800" dirty="0"/>
          </a:p>
        </p:txBody>
      </p:sp>
      <p:sp>
        <p:nvSpPr>
          <p:cNvPr id="5" name="Shape 2"/>
          <p:cNvSpPr/>
          <p:nvPr/>
        </p:nvSpPr>
        <p:spPr>
          <a:xfrm>
            <a:off x="457200" y="1828800"/>
            <a:ext cx="4023360" cy="1097280"/>
          </a:xfrm>
          <a:prstGeom prst="rect">
            <a:avLst/>
          </a:prstGeom>
          <a:solidFill>
            <a:srgbClr val="27AE60"/>
          </a:solidFill>
          <a:ln/>
          <a:effectLst>
            <a:outerShdw blurRad="101600" dist="38100" dir="8100000" algn="bl" rotWithShape="0">
              <a:srgbClr val="000000">
                <a:alpha val="12000"/>
              </a:srgbClr>
            </a:outerShdw>
          </a:effectLst>
        </p:spPr>
        <p:txBody>
          <a:bodyPr/>
          <a:lstStyle/>
          <a:p>
            <a:endParaRPr lang="en-IN"/>
          </a:p>
        </p:txBody>
      </p:sp>
      <p:sp>
        <p:nvSpPr>
          <p:cNvPr id="6" name="Text 3"/>
          <p:cNvSpPr/>
          <p:nvPr/>
        </p:nvSpPr>
        <p:spPr>
          <a:xfrm>
            <a:off x="640080" y="1965960"/>
            <a:ext cx="3657600" cy="27432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 LEGITIMATE</a:t>
            </a:r>
            <a:endParaRPr lang="en-US" sz="1400" dirty="0"/>
          </a:p>
        </p:txBody>
      </p:sp>
      <p:sp>
        <p:nvSpPr>
          <p:cNvPr id="7" name="Text 4"/>
          <p:cNvSpPr/>
          <p:nvPr/>
        </p:nvSpPr>
        <p:spPr>
          <a:xfrm>
            <a:off x="640080" y="2286000"/>
            <a:ext cx="3657600" cy="365760"/>
          </a:xfrm>
          <a:prstGeom prst="rect">
            <a:avLst/>
          </a:prstGeom>
          <a:noFill/>
          <a:ln/>
        </p:spPr>
        <p:txBody>
          <a:bodyPr wrap="square" rtlCol="0" anchor="ctr"/>
          <a:lstStyle/>
          <a:p>
            <a:pPr marL="0" indent="0">
              <a:buNone/>
            </a:pPr>
            <a:r>
              <a:rPr lang="en-US" sz="1600" b="1" dirty="0">
                <a:solidFill>
                  <a:srgbClr val="FFFFFF"/>
                </a:solidFill>
                <a:latin typeface="Consolas" pitchFamily="34" charset="0"/>
                <a:ea typeface="Consolas" pitchFamily="34" charset="-122"/>
                <a:cs typeface="Consolas" pitchFamily="34" charset="-120"/>
              </a:rPr>
              <a:t>https://www.paypal.com/login</a:t>
            </a:r>
            <a:endParaRPr lang="en-US" sz="1600" dirty="0"/>
          </a:p>
        </p:txBody>
      </p:sp>
      <p:sp>
        <p:nvSpPr>
          <p:cNvPr id="8" name="Shape 5"/>
          <p:cNvSpPr/>
          <p:nvPr/>
        </p:nvSpPr>
        <p:spPr>
          <a:xfrm>
            <a:off x="4663440" y="1828800"/>
            <a:ext cx="4023360" cy="1097280"/>
          </a:xfrm>
          <a:prstGeom prst="rect">
            <a:avLst/>
          </a:prstGeom>
          <a:solidFill>
            <a:srgbClr val="C41E3A"/>
          </a:solidFill>
          <a:ln/>
          <a:effectLst>
            <a:outerShdw blurRad="101600" dist="38100" dir="8100000" algn="bl" rotWithShape="0">
              <a:srgbClr val="000000">
                <a:alpha val="12000"/>
              </a:srgbClr>
            </a:outerShdw>
          </a:effectLst>
        </p:spPr>
        <p:txBody>
          <a:bodyPr/>
          <a:lstStyle/>
          <a:p>
            <a:endParaRPr lang="en-IN"/>
          </a:p>
        </p:txBody>
      </p:sp>
      <p:sp>
        <p:nvSpPr>
          <p:cNvPr id="9" name="Text 6"/>
          <p:cNvSpPr/>
          <p:nvPr/>
        </p:nvSpPr>
        <p:spPr>
          <a:xfrm>
            <a:off x="4846320" y="1965960"/>
            <a:ext cx="3657600" cy="27432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 FAKE</a:t>
            </a:r>
            <a:endParaRPr lang="en-US" sz="1400" dirty="0"/>
          </a:p>
        </p:txBody>
      </p:sp>
      <p:sp>
        <p:nvSpPr>
          <p:cNvPr id="10" name="Text 7"/>
          <p:cNvSpPr/>
          <p:nvPr/>
        </p:nvSpPr>
        <p:spPr>
          <a:xfrm>
            <a:off x="4846320" y="2286000"/>
            <a:ext cx="3657600" cy="365760"/>
          </a:xfrm>
          <a:prstGeom prst="rect">
            <a:avLst/>
          </a:prstGeom>
          <a:noFill/>
          <a:ln/>
        </p:spPr>
        <p:txBody>
          <a:bodyPr wrap="square" rtlCol="0" anchor="ctr"/>
          <a:lstStyle/>
          <a:p>
            <a:pPr marL="0" indent="0">
              <a:buNone/>
            </a:pPr>
            <a:r>
              <a:rPr lang="en-US" sz="1600" b="1" dirty="0">
                <a:solidFill>
                  <a:srgbClr val="FFFFFF"/>
                </a:solidFill>
                <a:latin typeface="Consolas" pitchFamily="34" charset="0"/>
                <a:ea typeface="Consolas" pitchFamily="34" charset="-122"/>
                <a:cs typeface="Consolas" pitchFamily="34" charset="-120"/>
              </a:rPr>
              <a:t>http://paypal-secure.tk/login</a:t>
            </a:r>
            <a:endParaRPr lang="en-US" sz="1600" dirty="0"/>
          </a:p>
        </p:txBody>
      </p:sp>
      <p:sp>
        <p:nvSpPr>
          <p:cNvPr id="11" name="Text 8"/>
          <p:cNvSpPr/>
          <p:nvPr/>
        </p:nvSpPr>
        <p:spPr>
          <a:xfrm>
            <a:off x="457200" y="3200400"/>
            <a:ext cx="4023360" cy="548640"/>
          </a:xfrm>
          <a:prstGeom prst="rect">
            <a:avLst/>
          </a:prstGeom>
          <a:noFill/>
          <a:ln/>
        </p:spPr>
        <p:txBody>
          <a:bodyPr wrap="square" rtlCol="0" anchor="ctr"/>
          <a:lstStyle/>
          <a:p>
            <a:pPr marL="0" indent="0">
              <a:buNone/>
            </a:pPr>
            <a:r>
              <a:rPr lang="en-US" sz="1400" b="1" dirty="0">
                <a:solidFill>
                  <a:srgbClr val="F39C12"/>
                </a:solidFill>
                <a:latin typeface="Arial" pitchFamily="34" charset="0"/>
                <a:ea typeface="Arial" pitchFamily="34" charset="-122"/>
                <a:cs typeface="Arial" pitchFamily="34" charset="-120"/>
              </a:rPr>
              <a:t>• </a:t>
            </a:r>
            <a:r>
              <a:rPr lang="en-US" sz="1200" b="1" dirty="0">
                <a:solidFill>
                  <a:srgbClr val="1E3A5F"/>
                </a:solidFill>
                <a:latin typeface="Arial" pitchFamily="34" charset="0"/>
                <a:ea typeface="Arial" pitchFamily="34" charset="-122"/>
                <a:cs typeface="Arial" pitchFamily="34" charset="-120"/>
              </a:rPr>
              <a:t>Look for HTTPS: </a:t>
            </a:r>
            <a:r>
              <a:rPr lang="en-US" sz="1100" dirty="0">
                <a:solidFill>
                  <a:srgbClr val="2C3E50"/>
                </a:solidFill>
                <a:latin typeface="Arial" pitchFamily="34" charset="0"/>
                <a:ea typeface="Arial" pitchFamily="34" charset="-122"/>
                <a:cs typeface="Arial" pitchFamily="34" charset="-120"/>
              </a:rPr>
              <a:t>Secure sites use HTTPS with a padlock icon</a:t>
            </a:r>
            <a:endParaRPr lang="en-US" sz="1400" dirty="0"/>
          </a:p>
        </p:txBody>
      </p:sp>
      <p:sp>
        <p:nvSpPr>
          <p:cNvPr id="12" name="Text 9"/>
          <p:cNvSpPr/>
          <p:nvPr/>
        </p:nvSpPr>
        <p:spPr>
          <a:xfrm>
            <a:off x="4937760" y="3200400"/>
            <a:ext cx="4023360" cy="548640"/>
          </a:xfrm>
          <a:prstGeom prst="rect">
            <a:avLst/>
          </a:prstGeom>
          <a:noFill/>
          <a:ln/>
        </p:spPr>
        <p:txBody>
          <a:bodyPr wrap="square" rtlCol="0" anchor="ctr"/>
          <a:lstStyle/>
          <a:p>
            <a:pPr marL="0" indent="0">
              <a:buNone/>
            </a:pPr>
            <a:r>
              <a:rPr lang="en-US" sz="1400" b="1" dirty="0">
                <a:solidFill>
                  <a:srgbClr val="F39C12"/>
                </a:solidFill>
                <a:latin typeface="Arial" pitchFamily="34" charset="0"/>
                <a:ea typeface="Arial" pitchFamily="34" charset="-122"/>
                <a:cs typeface="Arial" pitchFamily="34" charset="-120"/>
              </a:rPr>
              <a:t>• </a:t>
            </a:r>
            <a:r>
              <a:rPr lang="en-US" sz="1200" b="1" dirty="0">
                <a:solidFill>
                  <a:srgbClr val="1E3A5F"/>
                </a:solidFill>
                <a:latin typeface="Arial" pitchFamily="34" charset="0"/>
                <a:ea typeface="Arial" pitchFamily="34" charset="-122"/>
                <a:cs typeface="Arial" pitchFamily="34" charset="-120"/>
              </a:rPr>
              <a:t>Check the Domain: </a:t>
            </a:r>
            <a:r>
              <a:rPr lang="en-US" sz="1100" dirty="0">
                <a:solidFill>
                  <a:srgbClr val="2C3E50"/>
                </a:solidFill>
                <a:latin typeface="Arial" pitchFamily="34" charset="0"/>
                <a:ea typeface="Arial" pitchFamily="34" charset="-122"/>
                <a:cs typeface="Arial" pitchFamily="34" charset="-120"/>
              </a:rPr>
              <a:t>Verify spelling matches exactly (paypa1.com ≠ paypal.com)</a:t>
            </a:r>
            <a:endParaRPr lang="en-US" sz="1400" dirty="0"/>
          </a:p>
        </p:txBody>
      </p:sp>
      <p:sp>
        <p:nvSpPr>
          <p:cNvPr id="13" name="Text 10"/>
          <p:cNvSpPr/>
          <p:nvPr/>
        </p:nvSpPr>
        <p:spPr>
          <a:xfrm>
            <a:off x="457200" y="3931920"/>
            <a:ext cx="4023360" cy="548640"/>
          </a:xfrm>
          <a:prstGeom prst="rect">
            <a:avLst/>
          </a:prstGeom>
          <a:noFill/>
          <a:ln/>
        </p:spPr>
        <p:txBody>
          <a:bodyPr wrap="square" rtlCol="0" anchor="ctr"/>
          <a:lstStyle/>
          <a:p>
            <a:pPr marL="0" indent="0">
              <a:buNone/>
            </a:pPr>
            <a:r>
              <a:rPr lang="en-US" sz="1400" b="1" dirty="0">
                <a:solidFill>
                  <a:srgbClr val="F39C12"/>
                </a:solidFill>
                <a:latin typeface="Arial" pitchFamily="34" charset="0"/>
                <a:ea typeface="Arial" pitchFamily="34" charset="-122"/>
                <a:cs typeface="Arial" pitchFamily="34" charset="-120"/>
              </a:rPr>
              <a:t>• </a:t>
            </a:r>
            <a:r>
              <a:rPr lang="en-US" sz="1200" b="1" dirty="0">
                <a:solidFill>
                  <a:srgbClr val="1E3A5F"/>
                </a:solidFill>
                <a:latin typeface="Arial" pitchFamily="34" charset="0"/>
                <a:ea typeface="Arial" pitchFamily="34" charset="-122"/>
                <a:cs typeface="Arial" pitchFamily="34" charset="-120"/>
              </a:rPr>
              <a:t>Unusual TLDs: </a:t>
            </a:r>
            <a:r>
              <a:rPr lang="en-US" sz="1100" dirty="0">
                <a:solidFill>
                  <a:srgbClr val="2C3E50"/>
                </a:solidFill>
                <a:latin typeface="Arial" pitchFamily="34" charset="0"/>
                <a:ea typeface="Arial" pitchFamily="34" charset="-122"/>
                <a:cs typeface="Arial" pitchFamily="34" charset="-120"/>
              </a:rPr>
              <a:t>Be wary of .tk, .ml, .ga, .cf domains</a:t>
            </a:r>
            <a:endParaRPr lang="en-US" sz="1400" dirty="0"/>
          </a:p>
        </p:txBody>
      </p:sp>
      <p:sp>
        <p:nvSpPr>
          <p:cNvPr id="14" name="Text 11"/>
          <p:cNvSpPr/>
          <p:nvPr/>
        </p:nvSpPr>
        <p:spPr>
          <a:xfrm>
            <a:off x="4937760" y="3931920"/>
            <a:ext cx="4023360" cy="548640"/>
          </a:xfrm>
          <a:prstGeom prst="rect">
            <a:avLst/>
          </a:prstGeom>
          <a:noFill/>
          <a:ln/>
        </p:spPr>
        <p:txBody>
          <a:bodyPr wrap="square" rtlCol="0" anchor="ctr"/>
          <a:lstStyle/>
          <a:p>
            <a:pPr marL="0" indent="0">
              <a:buNone/>
            </a:pPr>
            <a:r>
              <a:rPr lang="en-US" sz="1400" b="1" dirty="0">
                <a:solidFill>
                  <a:srgbClr val="F39C12"/>
                </a:solidFill>
                <a:latin typeface="Arial" pitchFamily="34" charset="0"/>
                <a:ea typeface="Arial" pitchFamily="34" charset="-122"/>
                <a:cs typeface="Arial" pitchFamily="34" charset="-120"/>
              </a:rPr>
              <a:t>• </a:t>
            </a:r>
            <a:r>
              <a:rPr lang="en-US" sz="1200" b="1" dirty="0">
                <a:solidFill>
                  <a:srgbClr val="1E3A5F"/>
                </a:solidFill>
                <a:latin typeface="Arial" pitchFamily="34" charset="0"/>
                <a:ea typeface="Arial" pitchFamily="34" charset="-122"/>
                <a:cs typeface="Arial" pitchFamily="34" charset="-120"/>
              </a:rPr>
              <a:t>Extra Subdomains: </a:t>
            </a:r>
            <a:r>
              <a:rPr lang="en-US" sz="1100" dirty="0">
                <a:solidFill>
                  <a:srgbClr val="2C3E50"/>
                </a:solidFill>
                <a:latin typeface="Arial" pitchFamily="34" charset="0"/>
                <a:ea typeface="Arial" pitchFamily="34" charset="-122"/>
                <a:cs typeface="Arial" pitchFamily="34" charset="-120"/>
              </a:rPr>
              <a:t>paypal.secure-login.com is NOT paypal.com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4000" b="1" dirty="0">
                <a:solidFill>
                  <a:srgbClr val="1E3A5F"/>
                </a:solidFill>
                <a:latin typeface="Arial Black" pitchFamily="34" charset="0"/>
                <a:ea typeface="Arial Black" pitchFamily="34" charset="-122"/>
                <a:cs typeface="Arial Black" pitchFamily="34" charset="-120"/>
              </a:rPr>
              <a:t>Social Engineering Tactics</a:t>
            </a:r>
            <a:endParaRPr lang="en-US" sz="4000" dirty="0"/>
          </a:p>
        </p:txBody>
      </p:sp>
      <p:pic>
        <p:nvPicPr>
          <p:cNvPr id="3" name="Image 0" descr="preencoded.png"/>
          <p:cNvPicPr>
            <a:picLocks noChangeAspect="1"/>
          </p:cNvPicPr>
          <p:nvPr/>
        </p:nvPicPr>
        <p:blipFill>
          <a:blip r:embed="rId3"/>
          <a:stretch>
            <a:fillRect/>
          </a:stretch>
        </p:blipFill>
        <p:spPr>
          <a:xfrm>
            <a:off x="4114800" y="1097280"/>
            <a:ext cx="914400" cy="914400"/>
          </a:xfrm>
          <a:prstGeom prst="rect">
            <a:avLst/>
          </a:prstGeom>
        </p:spPr>
      </p:pic>
      <p:sp>
        <p:nvSpPr>
          <p:cNvPr id="4" name="Text 1"/>
          <p:cNvSpPr/>
          <p:nvPr/>
        </p:nvSpPr>
        <p:spPr>
          <a:xfrm>
            <a:off x="457200" y="2103120"/>
            <a:ext cx="8229600" cy="274320"/>
          </a:xfrm>
          <a:prstGeom prst="rect">
            <a:avLst/>
          </a:prstGeom>
          <a:noFill/>
          <a:ln/>
        </p:spPr>
        <p:txBody>
          <a:bodyPr wrap="square" rtlCol="0" anchor="ctr"/>
          <a:lstStyle/>
          <a:p>
            <a:pPr marL="0" indent="0" algn="ctr">
              <a:buNone/>
            </a:pPr>
            <a:r>
              <a:rPr lang="en-US" sz="1400" i="1" dirty="0">
                <a:solidFill>
                  <a:srgbClr val="2C3E50"/>
                </a:solidFill>
                <a:latin typeface="Arial" pitchFamily="34" charset="0"/>
                <a:ea typeface="Arial" pitchFamily="34" charset="-122"/>
                <a:cs typeface="Arial" pitchFamily="34" charset="-120"/>
              </a:rPr>
              <a:t>Attackers manipulate human psychology to bypass technical security</a:t>
            </a:r>
            <a:endParaRPr lang="en-US" sz="1400" dirty="0"/>
          </a:p>
        </p:txBody>
      </p:sp>
      <p:sp>
        <p:nvSpPr>
          <p:cNvPr id="5" name="Shape 2"/>
          <p:cNvSpPr/>
          <p:nvPr/>
        </p:nvSpPr>
        <p:spPr>
          <a:xfrm>
            <a:off x="457200" y="2560320"/>
            <a:ext cx="4023360" cy="685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Text 3"/>
          <p:cNvSpPr/>
          <p:nvPr/>
        </p:nvSpPr>
        <p:spPr>
          <a:xfrm>
            <a:off x="594360" y="2633472"/>
            <a:ext cx="3749040" cy="228600"/>
          </a:xfrm>
          <a:prstGeom prst="rect">
            <a:avLst/>
          </a:prstGeom>
          <a:noFill/>
          <a:ln/>
        </p:spPr>
        <p:txBody>
          <a:bodyPr wrap="square" rtlCol="0" anchor="ctr"/>
          <a:lstStyle/>
          <a:p>
            <a:pPr marL="0" indent="0">
              <a:buNone/>
            </a:pPr>
            <a:r>
              <a:rPr lang="en-US" sz="1300" b="1" dirty="0">
                <a:solidFill>
                  <a:srgbClr val="C41E3A"/>
                </a:solidFill>
                <a:latin typeface="Arial" pitchFamily="34" charset="0"/>
                <a:ea typeface="Arial" pitchFamily="34" charset="-122"/>
                <a:cs typeface="Arial" pitchFamily="34" charset="-120"/>
              </a:rPr>
              <a:t>Authority</a:t>
            </a:r>
            <a:endParaRPr lang="en-US" sz="1300" dirty="0"/>
          </a:p>
        </p:txBody>
      </p:sp>
      <p:sp>
        <p:nvSpPr>
          <p:cNvPr id="7" name="Text 4"/>
          <p:cNvSpPr/>
          <p:nvPr/>
        </p:nvSpPr>
        <p:spPr>
          <a:xfrm>
            <a:off x="594360" y="2862072"/>
            <a:ext cx="3749040" cy="32004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Pretending to be someone in power (CEO, IT admin, government official)</a:t>
            </a:r>
            <a:endParaRPr lang="en-US" sz="1000" dirty="0"/>
          </a:p>
        </p:txBody>
      </p:sp>
      <p:sp>
        <p:nvSpPr>
          <p:cNvPr id="8" name="Shape 5"/>
          <p:cNvSpPr/>
          <p:nvPr/>
        </p:nvSpPr>
        <p:spPr>
          <a:xfrm>
            <a:off x="4937760" y="2560320"/>
            <a:ext cx="4023360" cy="685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9" name="Text 6"/>
          <p:cNvSpPr/>
          <p:nvPr/>
        </p:nvSpPr>
        <p:spPr>
          <a:xfrm>
            <a:off x="5074920" y="2633472"/>
            <a:ext cx="3749040" cy="228600"/>
          </a:xfrm>
          <a:prstGeom prst="rect">
            <a:avLst/>
          </a:prstGeom>
          <a:noFill/>
          <a:ln/>
        </p:spPr>
        <p:txBody>
          <a:bodyPr wrap="square" rtlCol="0" anchor="ctr"/>
          <a:lstStyle/>
          <a:p>
            <a:pPr marL="0" indent="0">
              <a:buNone/>
            </a:pPr>
            <a:r>
              <a:rPr lang="en-US" sz="1300" b="1" dirty="0">
                <a:solidFill>
                  <a:srgbClr val="C41E3A"/>
                </a:solidFill>
                <a:latin typeface="Arial" pitchFamily="34" charset="0"/>
                <a:ea typeface="Arial" pitchFamily="34" charset="-122"/>
                <a:cs typeface="Arial" pitchFamily="34" charset="-120"/>
              </a:rPr>
              <a:t>Urgency</a:t>
            </a:r>
            <a:endParaRPr lang="en-US" sz="1300" dirty="0"/>
          </a:p>
        </p:txBody>
      </p:sp>
      <p:sp>
        <p:nvSpPr>
          <p:cNvPr id="10" name="Text 7"/>
          <p:cNvSpPr/>
          <p:nvPr/>
        </p:nvSpPr>
        <p:spPr>
          <a:xfrm>
            <a:off x="5074920" y="2862072"/>
            <a:ext cx="3749040" cy="32004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Creating time pressure to prevent careful thinking</a:t>
            </a:r>
            <a:endParaRPr lang="en-US" sz="1000" dirty="0"/>
          </a:p>
        </p:txBody>
      </p:sp>
      <p:sp>
        <p:nvSpPr>
          <p:cNvPr id="11" name="Shape 8"/>
          <p:cNvSpPr/>
          <p:nvPr/>
        </p:nvSpPr>
        <p:spPr>
          <a:xfrm>
            <a:off x="457200" y="3337560"/>
            <a:ext cx="4023360" cy="685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2" name="Text 9"/>
          <p:cNvSpPr/>
          <p:nvPr/>
        </p:nvSpPr>
        <p:spPr>
          <a:xfrm>
            <a:off x="594360" y="3410712"/>
            <a:ext cx="3749040" cy="228600"/>
          </a:xfrm>
          <a:prstGeom prst="rect">
            <a:avLst/>
          </a:prstGeom>
          <a:noFill/>
          <a:ln/>
        </p:spPr>
        <p:txBody>
          <a:bodyPr wrap="square" rtlCol="0" anchor="ctr"/>
          <a:lstStyle/>
          <a:p>
            <a:pPr marL="0" indent="0">
              <a:buNone/>
            </a:pPr>
            <a:r>
              <a:rPr lang="en-US" sz="1300" b="1" dirty="0">
                <a:solidFill>
                  <a:srgbClr val="C41E3A"/>
                </a:solidFill>
                <a:latin typeface="Arial" pitchFamily="34" charset="0"/>
                <a:ea typeface="Arial" pitchFamily="34" charset="-122"/>
                <a:cs typeface="Arial" pitchFamily="34" charset="-120"/>
              </a:rPr>
              <a:t>Fear</a:t>
            </a:r>
            <a:endParaRPr lang="en-US" sz="1300" dirty="0"/>
          </a:p>
        </p:txBody>
      </p:sp>
      <p:sp>
        <p:nvSpPr>
          <p:cNvPr id="13" name="Text 10"/>
          <p:cNvSpPr/>
          <p:nvPr/>
        </p:nvSpPr>
        <p:spPr>
          <a:xfrm>
            <a:off x="594360" y="3639312"/>
            <a:ext cx="3749040" cy="32004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Threatening negative consequences to provoke panic</a:t>
            </a:r>
            <a:endParaRPr lang="en-US" sz="1000" dirty="0"/>
          </a:p>
        </p:txBody>
      </p:sp>
      <p:sp>
        <p:nvSpPr>
          <p:cNvPr id="14" name="Shape 11"/>
          <p:cNvSpPr/>
          <p:nvPr/>
        </p:nvSpPr>
        <p:spPr>
          <a:xfrm>
            <a:off x="4937760" y="3337560"/>
            <a:ext cx="4023360" cy="685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5" name="Text 12"/>
          <p:cNvSpPr/>
          <p:nvPr/>
        </p:nvSpPr>
        <p:spPr>
          <a:xfrm>
            <a:off x="5074920" y="3410712"/>
            <a:ext cx="3749040" cy="228600"/>
          </a:xfrm>
          <a:prstGeom prst="rect">
            <a:avLst/>
          </a:prstGeom>
          <a:noFill/>
          <a:ln/>
        </p:spPr>
        <p:txBody>
          <a:bodyPr wrap="square" rtlCol="0" anchor="ctr"/>
          <a:lstStyle/>
          <a:p>
            <a:pPr marL="0" indent="0">
              <a:buNone/>
            </a:pPr>
            <a:r>
              <a:rPr lang="en-US" sz="1300" b="1" dirty="0">
                <a:solidFill>
                  <a:srgbClr val="C41E3A"/>
                </a:solidFill>
                <a:latin typeface="Arial" pitchFamily="34" charset="0"/>
                <a:ea typeface="Arial" pitchFamily="34" charset="-122"/>
                <a:cs typeface="Arial" pitchFamily="34" charset="-120"/>
              </a:rPr>
              <a:t>Curiosity</a:t>
            </a:r>
            <a:endParaRPr lang="en-US" sz="1300" dirty="0"/>
          </a:p>
        </p:txBody>
      </p:sp>
      <p:sp>
        <p:nvSpPr>
          <p:cNvPr id="16" name="Text 13"/>
          <p:cNvSpPr/>
          <p:nvPr/>
        </p:nvSpPr>
        <p:spPr>
          <a:xfrm>
            <a:off x="5074920" y="3639312"/>
            <a:ext cx="3749040" cy="32004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Using intriguing subjects to encourage clicks</a:t>
            </a:r>
            <a:endParaRPr lang="en-US" sz="1000" dirty="0"/>
          </a:p>
        </p:txBody>
      </p:sp>
      <p:sp>
        <p:nvSpPr>
          <p:cNvPr id="17" name="Shape 14"/>
          <p:cNvSpPr/>
          <p:nvPr/>
        </p:nvSpPr>
        <p:spPr>
          <a:xfrm>
            <a:off x="457200" y="4114800"/>
            <a:ext cx="4023360" cy="685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594360" y="4187952"/>
            <a:ext cx="3749040" cy="228600"/>
          </a:xfrm>
          <a:prstGeom prst="rect">
            <a:avLst/>
          </a:prstGeom>
          <a:noFill/>
          <a:ln/>
        </p:spPr>
        <p:txBody>
          <a:bodyPr wrap="square" rtlCol="0" anchor="ctr"/>
          <a:lstStyle/>
          <a:p>
            <a:pPr marL="0" indent="0">
              <a:buNone/>
            </a:pPr>
            <a:r>
              <a:rPr lang="en-US" sz="1300" b="1" dirty="0">
                <a:solidFill>
                  <a:srgbClr val="C41E3A"/>
                </a:solidFill>
                <a:latin typeface="Arial" pitchFamily="34" charset="0"/>
                <a:ea typeface="Arial" pitchFamily="34" charset="-122"/>
                <a:cs typeface="Arial" pitchFamily="34" charset="-120"/>
              </a:rPr>
              <a:t>Reciprocity</a:t>
            </a:r>
            <a:endParaRPr lang="en-US" sz="1300" dirty="0"/>
          </a:p>
        </p:txBody>
      </p:sp>
      <p:sp>
        <p:nvSpPr>
          <p:cNvPr id="19" name="Text 16"/>
          <p:cNvSpPr/>
          <p:nvPr/>
        </p:nvSpPr>
        <p:spPr>
          <a:xfrm>
            <a:off x="594360" y="4416552"/>
            <a:ext cx="3749040" cy="32004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Offering something to create obligation</a:t>
            </a:r>
            <a:endParaRPr lang="en-US" sz="1000" dirty="0"/>
          </a:p>
        </p:txBody>
      </p:sp>
      <p:sp>
        <p:nvSpPr>
          <p:cNvPr id="20" name="Shape 17"/>
          <p:cNvSpPr/>
          <p:nvPr/>
        </p:nvSpPr>
        <p:spPr>
          <a:xfrm>
            <a:off x="4937760" y="4114800"/>
            <a:ext cx="4023360" cy="685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1" name="Text 18"/>
          <p:cNvSpPr/>
          <p:nvPr/>
        </p:nvSpPr>
        <p:spPr>
          <a:xfrm>
            <a:off x="5074920" y="4187952"/>
            <a:ext cx="3749040" cy="228600"/>
          </a:xfrm>
          <a:prstGeom prst="rect">
            <a:avLst/>
          </a:prstGeom>
          <a:noFill/>
          <a:ln/>
        </p:spPr>
        <p:txBody>
          <a:bodyPr wrap="square" rtlCol="0" anchor="ctr"/>
          <a:lstStyle/>
          <a:p>
            <a:pPr marL="0" indent="0">
              <a:buNone/>
            </a:pPr>
            <a:r>
              <a:rPr lang="en-US" sz="1300" b="1" dirty="0">
                <a:solidFill>
                  <a:srgbClr val="C41E3A"/>
                </a:solidFill>
                <a:latin typeface="Arial" pitchFamily="34" charset="0"/>
                <a:ea typeface="Arial" pitchFamily="34" charset="-122"/>
                <a:cs typeface="Arial" pitchFamily="34" charset="-120"/>
              </a:rPr>
              <a:t>Trust</a:t>
            </a:r>
            <a:endParaRPr lang="en-US" sz="1300" dirty="0"/>
          </a:p>
        </p:txBody>
      </p:sp>
      <p:sp>
        <p:nvSpPr>
          <p:cNvPr id="22" name="Text 19"/>
          <p:cNvSpPr/>
          <p:nvPr/>
        </p:nvSpPr>
        <p:spPr>
          <a:xfrm>
            <a:off x="5074920" y="4416552"/>
            <a:ext cx="3749040" cy="32004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Exploiting existing relationships or brand recognition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4000" b="1" dirty="0">
                <a:solidFill>
                  <a:srgbClr val="1E3A5F"/>
                </a:solidFill>
                <a:latin typeface="Arial Black" pitchFamily="34" charset="0"/>
                <a:ea typeface="Arial Black" pitchFamily="34" charset="-122"/>
                <a:cs typeface="Arial Black" pitchFamily="34" charset="-120"/>
              </a:rPr>
              <a:t>Best Practices to Stay Safe</a:t>
            </a:r>
            <a:endParaRPr lang="en-US" sz="4000" dirty="0"/>
          </a:p>
        </p:txBody>
      </p:sp>
      <p:sp>
        <p:nvSpPr>
          <p:cNvPr id="3" name="Shape 1"/>
          <p:cNvSpPr/>
          <p:nvPr/>
        </p:nvSpPr>
        <p:spPr>
          <a:xfrm>
            <a:off x="457200" y="1188720"/>
            <a:ext cx="4023360" cy="10515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4" name="Image 0" descr="preencoded.png"/>
          <p:cNvPicPr>
            <a:picLocks noChangeAspect="1"/>
          </p:cNvPicPr>
          <p:nvPr/>
        </p:nvPicPr>
        <p:blipFill>
          <a:blip r:embed="rId3"/>
          <a:stretch>
            <a:fillRect/>
          </a:stretch>
        </p:blipFill>
        <p:spPr>
          <a:xfrm>
            <a:off x="640080" y="1325880"/>
            <a:ext cx="411480" cy="411480"/>
          </a:xfrm>
          <a:prstGeom prst="rect">
            <a:avLst/>
          </a:prstGeom>
        </p:spPr>
      </p:pic>
      <p:sp>
        <p:nvSpPr>
          <p:cNvPr id="5" name="Text 2"/>
          <p:cNvSpPr/>
          <p:nvPr/>
        </p:nvSpPr>
        <p:spPr>
          <a:xfrm>
            <a:off x="1143000" y="1325880"/>
            <a:ext cx="3154680" cy="365760"/>
          </a:xfrm>
          <a:prstGeom prst="rect">
            <a:avLst/>
          </a:prstGeom>
          <a:noFill/>
          <a:ln/>
        </p:spPr>
        <p:txBody>
          <a:bodyPr wrap="square" rtlCol="0" anchor="ctr"/>
          <a:lstStyle/>
          <a:p>
            <a:pPr marL="0" indent="0">
              <a:buNone/>
            </a:pPr>
            <a:r>
              <a:rPr lang="en-US" sz="1500" b="1" dirty="0">
                <a:solidFill>
                  <a:srgbClr val="1E3A5F"/>
                </a:solidFill>
                <a:latin typeface="Arial" pitchFamily="34" charset="0"/>
                <a:ea typeface="Arial" pitchFamily="34" charset="-122"/>
                <a:cs typeface="Arial" pitchFamily="34" charset="-120"/>
              </a:rPr>
              <a:t>Verify the Sender</a:t>
            </a:r>
            <a:endParaRPr lang="en-US" sz="1500" dirty="0"/>
          </a:p>
        </p:txBody>
      </p:sp>
      <p:sp>
        <p:nvSpPr>
          <p:cNvPr id="6" name="Text 3"/>
          <p:cNvSpPr/>
          <p:nvPr/>
        </p:nvSpPr>
        <p:spPr>
          <a:xfrm>
            <a:off x="640080" y="1783080"/>
            <a:ext cx="3657600" cy="365760"/>
          </a:xfrm>
          <a:prstGeom prst="rect">
            <a:avLst/>
          </a:prstGeom>
          <a:noFill/>
          <a:ln/>
        </p:spPr>
        <p:txBody>
          <a:bodyPr wrap="square" rtlCol="0" anchor="ctr"/>
          <a:lstStyle/>
          <a:p>
            <a:pPr marL="0" indent="0">
              <a:buNone/>
            </a:pPr>
            <a:r>
              <a:rPr lang="en-US" sz="1100" dirty="0">
                <a:solidFill>
                  <a:srgbClr val="2C3E50"/>
                </a:solidFill>
                <a:latin typeface="Arial" pitchFamily="34" charset="0"/>
                <a:ea typeface="Arial" pitchFamily="34" charset="-122"/>
                <a:cs typeface="Arial" pitchFamily="34" charset="-120"/>
              </a:rPr>
              <a:t>Check email addresses carefully and contact the sender through official channels if suspicious</a:t>
            </a:r>
            <a:endParaRPr lang="en-US" sz="1100" dirty="0"/>
          </a:p>
        </p:txBody>
      </p:sp>
      <p:sp>
        <p:nvSpPr>
          <p:cNvPr id="7" name="Shape 4"/>
          <p:cNvSpPr/>
          <p:nvPr/>
        </p:nvSpPr>
        <p:spPr>
          <a:xfrm>
            <a:off x="4937760" y="1188720"/>
            <a:ext cx="4023360" cy="10515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8" name="Image 1" descr="preencoded.png"/>
          <p:cNvPicPr>
            <a:picLocks noChangeAspect="1"/>
          </p:cNvPicPr>
          <p:nvPr/>
        </p:nvPicPr>
        <p:blipFill>
          <a:blip r:embed="rId4"/>
          <a:stretch>
            <a:fillRect/>
          </a:stretch>
        </p:blipFill>
        <p:spPr>
          <a:xfrm>
            <a:off x="5120640" y="1325880"/>
            <a:ext cx="411480" cy="411480"/>
          </a:xfrm>
          <a:prstGeom prst="rect">
            <a:avLst/>
          </a:prstGeom>
        </p:spPr>
      </p:pic>
      <p:sp>
        <p:nvSpPr>
          <p:cNvPr id="9" name="Text 5"/>
          <p:cNvSpPr/>
          <p:nvPr/>
        </p:nvSpPr>
        <p:spPr>
          <a:xfrm>
            <a:off x="5623560" y="1325880"/>
            <a:ext cx="3154680" cy="365760"/>
          </a:xfrm>
          <a:prstGeom prst="rect">
            <a:avLst/>
          </a:prstGeom>
          <a:noFill/>
          <a:ln/>
        </p:spPr>
        <p:txBody>
          <a:bodyPr wrap="square" rtlCol="0" anchor="ctr"/>
          <a:lstStyle/>
          <a:p>
            <a:pPr marL="0" indent="0">
              <a:buNone/>
            </a:pPr>
            <a:r>
              <a:rPr lang="en-US" sz="1500" b="1" dirty="0">
                <a:solidFill>
                  <a:srgbClr val="1E3A5F"/>
                </a:solidFill>
                <a:latin typeface="Arial" pitchFamily="34" charset="0"/>
                <a:ea typeface="Arial" pitchFamily="34" charset="-122"/>
                <a:cs typeface="Arial" pitchFamily="34" charset="-120"/>
              </a:rPr>
              <a:t>Use Strong Authentication</a:t>
            </a:r>
            <a:endParaRPr lang="en-US" sz="1500" dirty="0"/>
          </a:p>
        </p:txBody>
      </p:sp>
      <p:sp>
        <p:nvSpPr>
          <p:cNvPr id="10" name="Text 6"/>
          <p:cNvSpPr/>
          <p:nvPr/>
        </p:nvSpPr>
        <p:spPr>
          <a:xfrm>
            <a:off x="5120640" y="1783080"/>
            <a:ext cx="3657600" cy="365760"/>
          </a:xfrm>
          <a:prstGeom prst="rect">
            <a:avLst/>
          </a:prstGeom>
          <a:noFill/>
          <a:ln/>
        </p:spPr>
        <p:txBody>
          <a:bodyPr wrap="square" rtlCol="0" anchor="ctr"/>
          <a:lstStyle/>
          <a:p>
            <a:pPr marL="0" indent="0">
              <a:buNone/>
            </a:pPr>
            <a:r>
              <a:rPr lang="en-US" sz="1100" dirty="0">
                <a:solidFill>
                  <a:srgbClr val="2C3E50"/>
                </a:solidFill>
                <a:latin typeface="Arial" pitchFamily="34" charset="0"/>
                <a:ea typeface="Arial" pitchFamily="34" charset="-122"/>
                <a:cs typeface="Arial" pitchFamily="34" charset="-120"/>
              </a:rPr>
              <a:t>Enable multi-factor authentication (MFA) on all accounts for an extra layer of security</a:t>
            </a:r>
            <a:endParaRPr lang="en-US" sz="1100" dirty="0"/>
          </a:p>
        </p:txBody>
      </p:sp>
      <p:sp>
        <p:nvSpPr>
          <p:cNvPr id="11" name="Shape 7"/>
          <p:cNvSpPr/>
          <p:nvPr/>
        </p:nvSpPr>
        <p:spPr>
          <a:xfrm>
            <a:off x="457200" y="2423160"/>
            <a:ext cx="4023360" cy="10515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2" name="Image 2" descr="preencoded.png"/>
          <p:cNvPicPr>
            <a:picLocks noChangeAspect="1"/>
          </p:cNvPicPr>
          <p:nvPr/>
        </p:nvPicPr>
        <p:blipFill>
          <a:blip r:embed="rId5"/>
          <a:stretch>
            <a:fillRect/>
          </a:stretch>
        </p:blipFill>
        <p:spPr>
          <a:xfrm>
            <a:off x="640080" y="2560320"/>
            <a:ext cx="411480" cy="411480"/>
          </a:xfrm>
          <a:prstGeom prst="rect">
            <a:avLst/>
          </a:prstGeom>
        </p:spPr>
      </p:pic>
      <p:sp>
        <p:nvSpPr>
          <p:cNvPr id="13" name="Text 8"/>
          <p:cNvSpPr/>
          <p:nvPr/>
        </p:nvSpPr>
        <p:spPr>
          <a:xfrm>
            <a:off x="1143000" y="2560320"/>
            <a:ext cx="3154680" cy="365760"/>
          </a:xfrm>
          <a:prstGeom prst="rect">
            <a:avLst/>
          </a:prstGeom>
          <a:noFill/>
          <a:ln/>
        </p:spPr>
        <p:txBody>
          <a:bodyPr wrap="square" rtlCol="0" anchor="ctr"/>
          <a:lstStyle/>
          <a:p>
            <a:pPr marL="0" indent="0">
              <a:buNone/>
            </a:pPr>
            <a:r>
              <a:rPr lang="en-US" sz="1500" b="1" dirty="0">
                <a:solidFill>
                  <a:srgbClr val="1E3A5F"/>
                </a:solidFill>
                <a:latin typeface="Arial" pitchFamily="34" charset="0"/>
                <a:ea typeface="Arial" pitchFamily="34" charset="-122"/>
                <a:cs typeface="Arial" pitchFamily="34" charset="-120"/>
              </a:rPr>
              <a:t>Think Before You Click</a:t>
            </a:r>
            <a:endParaRPr lang="en-US" sz="1500" dirty="0"/>
          </a:p>
        </p:txBody>
      </p:sp>
      <p:sp>
        <p:nvSpPr>
          <p:cNvPr id="14" name="Text 9"/>
          <p:cNvSpPr/>
          <p:nvPr/>
        </p:nvSpPr>
        <p:spPr>
          <a:xfrm>
            <a:off x="640080" y="3017520"/>
            <a:ext cx="3657600" cy="365760"/>
          </a:xfrm>
          <a:prstGeom prst="rect">
            <a:avLst/>
          </a:prstGeom>
          <a:noFill/>
          <a:ln/>
        </p:spPr>
        <p:txBody>
          <a:bodyPr wrap="square" rtlCol="0" anchor="ctr"/>
          <a:lstStyle/>
          <a:p>
            <a:pPr marL="0" indent="0">
              <a:buNone/>
            </a:pPr>
            <a:r>
              <a:rPr lang="en-US" sz="1100" dirty="0">
                <a:solidFill>
                  <a:srgbClr val="2C3E50"/>
                </a:solidFill>
                <a:latin typeface="Arial" pitchFamily="34" charset="0"/>
                <a:ea typeface="Arial" pitchFamily="34" charset="-122"/>
                <a:cs typeface="Arial" pitchFamily="34" charset="-120"/>
              </a:rPr>
              <a:t>Hover over links to preview URLs before clicking. When in doubt, navigate manually</a:t>
            </a:r>
            <a:endParaRPr lang="en-US" sz="1100" dirty="0"/>
          </a:p>
        </p:txBody>
      </p:sp>
      <p:sp>
        <p:nvSpPr>
          <p:cNvPr id="15" name="Shape 10"/>
          <p:cNvSpPr/>
          <p:nvPr/>
        </p:nvSpPr>
        <p:spPr>
          <a:xfrm>
            <a:off x="4937760" y="2423160"/>
            <a:ext cx="4023360" cy="10515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6" name="Image 3" descr="preencoded.png"/>
          <p:cNvPicPr>
            <a:picLocks noChangeAspect="1"/>
          </p:cNvPicPr>
          <p:nvPr/>
        </p:nvPicPr>
        <p:blipFill>
          <a:blip r:embed="rId6"/>
          <a:stretch>
            <a:fillRect/>
          </a:stretch>
        </p:blipFill>
        <p:spPr>
          <a:xfrm>
            <a:off x="5120640" y="2560320"/>
            <a:ext cx="411480" cy="411480"/>
          </a:xfrm>
          <a:prstGeom prst="rect">
            <a:avLst/>
          </a:prstGeom>
        </p:spPr>
      </p:pic>
      <p:sp>
        <p:nvSpPr>
          <p:cNvPr id="17" name="Text 11"/>
          <p:cNvSpPr/>
          <p:nvPr/>
        </p:nvSpPr>
        <p:spPr>
          <a:xfrm>
            <a:off x="5623560" y="2560320"/>
            <a:ext cx="3154680" cy="365760"/>
          </a:xfrm>
          <a:prstGeom prst="rect">
            <a:avLst/>
          </a:prstGeom>
          <a:noFill/>
          <a:ln/>
        </p:spPr>
        <p:txBody>
          <a:bodyPr wrap="square" rtlCol="0" anchor="ctr"/>
          <a:lstStyle/>
          <a:p>
            <a:pPr marL="0" indent="0">
              <a:buNone/>
            </a:pPr>
            <a:r>
              <a:rPr lang="en-US" sz="1500" b="1" dirty="0">
                <a:solidFill>
                  <a:srgbClr val="1E3A5F"/>
                </a:solidFill>
                <a:latin typeface="Arial" pitchFamily="34" charset="0"/>
                <a:ea typeface="Arial" pitchFamily="34" charset="-122"/>
                <a:cs typeface="Arial" pitchFamily="34" charset="-120"/>
              </a:rPr>
              <a:t>Keep Software Updated</a:t>
            </a:r>
            <a:endParaRPr lang="en-US" sz="1500" dirty="0"/>
          </a:p>
        </p:txBody>
      </p:sp>
      <p:sp>
        <p:nvSpPr>
          <p:cNvPr id="18" name="Text 12"/>
          <p:cNvSpPr/>
          <p:nvPr/>
        </p:nvSpPr>
        <p:spPr>
          <a:xfrm>
            <a:off x="5120640" y="3017520"/>
            <a:ext cx="3657600" cy="365760"/>
          </a:xfrm>
          <a:prstGeom prst="rect">
            <a:avLst/>
          </a:prstGeom>
          <a:noFill/>
          <a:ln/>
        </p:spPr>
        <p:txBody>
          <a:bodyPr wrap="square" rtlCol="0" anchor="ctr"/>
          <a:lstStyle/>
          <a:p>
            <a:pPr marL="0" indent="0">
              <a:buNone/>
            </a:pPr>
            <a:r>
              <a:rPr lang="en-US" sz="1100" dirty="0">
                <a:solidFill>
                  <a:srgbClr val="2C3E50"/>
                </a:solidFill>
                <a:latin typeface="Arial" pitchFamily="34" charset="0"/>
                <a:ea typeface="Arial" pitchFamily="34" charset="-122"/>
                <a:cs typeface="Arial" pitchFamily="34" charset="-120"/>
              </a:rPr>
              <a:t>Install security updates promptly to protect against known vulnerabilities</a:t>
            </a:r>
            <a:endParaRPr lang="en-US" sz="1100" dirty="0"/>
          </a:p>
        </p:txBody>
      </p:sp>
      <p:sp>
        <p:nvSpPr>
          <p:cNvPr id="19" name="Shape 13"/>
          <p:cNvSpPr/>
          <p:nvPr/>
        </p:nvSpPr>
        <p:spPr>
          <a:xfrm>
            <a:off x="457200" y="3657600"/>
            <a:ext cx="4023360" cy="10515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20" name="Image 4" descr="preencoded.png"/>
          <p:cNvPicPr>
            <a:picLocks noChangeAspect="1"/>
          </p:cNvPicPr>
          <p:nvPr/>
        </p:nvPicPr>
        <p:blipFill>
          <a:blip r:embed="rId7"/>
          <a:stretch>
            <a:fillRect/>
          </a:stretch>
        </p:blipFill>
        <p:spPr>
          <a:xfrm>
            <a:off x="640080" y="3794760"/>
            <a:ext cx="411480" cy="411480"/>
          </a:xfrm>
          <a:prstGeom prst="rect">
            <a:avLst/>
          </a:prstGeom>
        </p:spPr>
      </p:pic>
      <p:sp>
        <p:nvSpPr>
          <p:cNvPr id="21" name="Text 14"/>
          <p:cNvSpPr/>
          <p:nvPr/>
        </p:nvSpPr>
        <p:spPr>
          <a:xfrm>
            <a:off x="1143000" y="3794760"/>
            <a:ext cx="3154680" cy="365760"/>
          </a:xfrm>
          <a:prstGeom prst="rect">
            <a:avLst/>
          </a:prstGeom>
          <a:noFill/>
          <a:ln/>
        </p:spPr>
        <p:txBody>
          <a:bodyPr wrap="square" rtlCol="0" anchor="ctr"/>
          <a:lstStyle/>
          <a:p>
            <a:pPr marL="0" indent="0">
              <a:buNone/>
            </a:pPr>
            <a:r>
              <a:rPr lang="en-US" sz="1500" b="1" dirty="0">
                <a:solidFill>
                  <a:srgbClr val="1E3A5F"/>
                </a:solidFill>
                <a:latin typeface="Arial" pitchFamily="34" charset="0"/>
                <a:ea typeface="Arial" pitchFamily="34" charset="-122"/>
                <a:cs typeface="Arial" pitchFamily="34" charset="-120"/>
              </a:rPr>
              <a:t>Use Security Tools</a:t>
            </a:r>
            <a:endParaRPr lang="en-US" sz="1500" dirty="0"/>
          </a:p>
        </p:txBody>
      </p:sp>
      <p:sp>
        <p:nvSpPr>
          <p:cNvPr id="22" name="Text 15"/>
          <p:cNvSpPr/>
          <p:nvPr/>
        </p:nvSpPr>
        <p:spPr>
          <a:xfrm>
            <a:off x="640080" y="4251960"/>
            <a:ext cx="3657600" cy="365760"/>
          </a:xfrm>
          <a:prstGeom prst="rect">
            <a:avLst/>
          </a:prstGeom>
          <a:noFill/>
          <a:ln/>
        </p:spPr>
        <p:txBody>
          <a:bodyPr wrap="square" rtlCol="0" anchor="ctr"/>
          <a:lstStyle/>
          <a:p>
            <a:pPr marL="0" indent="0">
              <a:buNone/>
            </a:pPr>
            <a:r>
              <a:rPr lang="en-US" sz="1100" dirty="0">
                <a:solidFill>
                  <a:srgbClr val="2C3E50"/>
                </a:solidFill>
                <a:latin typeface="Arial" pitchFamily="34" charset="0"/>
                <a:ea typeface="Arial" pitchFamily="34" charset="-122"/>
                <a:cs typeface="Arial" pitchFamily="34" charset="-120"/>
              </a:rPr>
              <a:t>Deploy anti-phishing browser extensions and email filters</a:t>
            </a:r>
            <a:endParaRPr lang="en-US" sz="1100" dirty="0"/>
          </a:p>
        </p:txBody>
      </p:sp>
      <p:sp>
        <p:nvSpPr>
          <p:cNvPr id="23" name="Shape 16"/>
          <p:cNvSpPr/>
          <p:nvPr/>
        </p:nvSpPr>
        <p:spPr>
          <a:xfrm>
            <a:off x="4937760" y="3657600"/>
            <a:ext cx="4023360" cy="10515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24" name="Image 5" descr="preencoded.png"/>
          <p:cNvPicPr>
            <a:picLocks noChangeAspect="1"/>
          </p:cNvPicPr>
          <p:nvPr/>
        </p:nvPicPr>
        <p:blipFill>
          <a:blip r:embed="rId8"/>
          <a:stretch>
            <a:fillRect/>
          </a:stretch>
        </p:blipFill>
        <p:spPr>
          <a:xfrm>
            <a:off x="5120640" y="3794760"/>
            <a:ext cx="411480" cy="411480"/>
          </a:xfrm>
          <a:prstGeom prst="rect">
            <a:avLst/>
          </a:prstGeom>
        </p:spPr>
      </p:pic>
      <p:sp>
        <p:nvSpPr>
          <p:cNvPr id="25" name="Text 17"/>
          <p:cNvSpPr/>
          <p:nvPr/>
        </p:nvSpPr>
        <p:spPr>
          <a:xfrm>
            <a:off x="5623560" y="3794760"/>
            <a:ext cx="3154680" cy="365760"/>
          </a:xfrm>
          <a:prstGeom prst="rect">
            <a:avLst/>
          </a:prstGeom>
          <a:noFill/>
          <a:ln/>
        </p:spPr>
        <p:txBody>
          <a:bodyPr wrap="square" rtlCol="0" anchor="ctr"/>
          <a:lstStyle/>
          <a:p>
            <a:pPr marL="0" indent="0">
              <a:buNone/>
            </a:pPr>
            <a:r>
              <a:rPr lang="en-US" sz="1500" b="1" dirty="0">
                <a:solidFill>
                  <a:srgbClr val="1E3A5F"/>
                </a:solidFill>
                <a:latin typeface="Arial" pitchFamily="34" charset="0"/>
                <a:ea typeface="Arial" pitchFamily="34" charset="-122"/>
                <a:cs typeface="Arial" pitchFamily="34" charset="-120"/>
              </a:rPr>
              <a:t>Report Suspicious Activity</a:t>
            </a:r>
            <a:endParaRPr lang="en-US" sz="1500" dirty="0"/>
          </a:p>
        </p:txBody>
      </p:sp>
      <p:sp>
        <p:nvSpPr>
          <p:cNvPr id="26" name="Text 18"/>
          <p:cNvSpPr/>
          <p:nvPr/>
        </p:nvSpPr>
        <p:spPr>
          <a:xfrm>
            <a:off x="5120640" y="4251960"/>
            <a:ext cx="3657600" cy="365760"/>
          </a:xfrm>
          <a:prstGeom prst="rect">
            <a:avLst/>
          </a:prstGeom>
          <a:noFill/>
          <a:ln/>
        </p:spPr>
        <p:txBody>
          <a:bodyPr wrap="square" rtlCol="0" anchor="ctr"/>
          <a:lstStyle/>
          <a:p>
            <a:pPr marL="0" indent="0">
              <a:buNone/>
            </a:pPr>
            <a:r>
              <a:rPr lang="en-US" sz="1100" dirty="0">
                <a:solidFill>
                  <a:srgbClr val="2C3E50"/>
                </a:solidFill>
                <a:latin typeface="Arial" pitchFamily="34" charset="0"/>
                <a:ea typeface="Arial" pitchFamily="34" charset="-122"/>
                <a:cs typeface="Arial" pitchFamily="34" charset="-120"/>
              </a:rPr>
              <a:t>Forward phishing emails to your IT security team or phishing@example.com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3A5F"/>
                </a:solidFill>
                <a:latin typeface="Arial Black" pitchFamily="34" charset="0"/>
                <a:ea typeface="Arial Black" pitchFamily="34" charset="-122"/>
                <a:cs typeface="Arial Black" pitchFamily="34" charset="-120"/>
              </a:rPr>
              <a:t>What to Do If You've Been Compromised</a:t>
            </a:r>
            <a:endParaRPr lang="en-US" sz="3600" dirty="0"/>
          </a:p>
        </p:txBody>
      </p:sp>
      <p:sp>
        <p:nvSpPr>
          <p:cNvPr id="3" name="Shape 1"/>
          <p:cNvSpPr/>
          <p:nvPr/>
        </p:nvSpPr>
        <p:spPr>
          <a:xfrm>
            <a:off x="457200" y="1097280"/>
            <a:ext cx="8229600" cy="548640"/>
          </a:xfrm>
          <a:prstGeom prst="rect">
            <a:avLst/>
          </a:prstGeom>
          <a:solidFill>
            <a:srgbClr val="C41E3A"/>
          </a:solidFill>
          <a:ln/>
        </p:spPr>
        <p:txBody>
          <a:bodyPr/>
          <a:lstStyle/>
          <a:p>
            <a:endParaRPr lang="en-IN"/>
          </a:p>
        </p:txBody>
      </p:sp>
      <p:sp>
        <p:nvSpPr>
          <p:cNvPr id="4" name="Text 2"/>
          <p:cNvSpPr/>
          <p:nvPr/>
        </p:nvSpPr>
        <p:spPr>
          <a:xfrm>
            <a:off x="640080" y="1234440"/>
            <a:ext cx="7863840" cy="27432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Don't panic! Quick action can minimize damage. Follow these steps:</a:t>
            </a:r>
            <a:endParaRPr lang="en-US" sz="1400" dirty="0"/>
          </a:p>
        </p:txBody>
      </p:sp>
      <p:sp>
        <p:nvSpPr>
          <p:cNvPr id="5" name="Shape 3"/>
          <p:cNvSpPr/>
          <p:nvPr/>
        </p:nvSpPr>
        <p:spPr>
          <a:xfrm>
            <a:off x="457200" y="1828800"/>
            <a:ext cx="4023360" cy="7772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594360" y="1965960"/>
            <a:ext cx="365760" cy="365760"/>
          </a:xfrm>
          <a:prstGeom prst="ellipse">
            <a:avLst/>
          </a:prstGeom>
          <a:solidFill>
            <a:srgbClr val="F39C12"/>
          </a:solidFill>
          <a:ln/>
        </p:spPr>
        <p:txBody>
          <a:bodyPr/>
          <a:lstStyle/>
          <a:p>
            <a:endParaRPr lang="en-IN"/>
          </a:p>
        </p:txBody>
      </p:sp>
      <p:sp>
        <p:nvSpPr>
          <p:cNvPr id="7" name="Text 5"/>
          <p:cNvSpPr/>
          <p:nvPr/>
        </p:nvSpPr>
        <p:spPr>
          <a:xfrm>
            <a:off x="594360" y="1965960"/>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1051560" y="1965960"/>
            <a:ext cx="3291840" cy="27432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Change Your Passwords Immediately</a:t>
            </a:r>
            <a:endParaRPr lang="en-US" sz="1300" dirty="0"/>
          </a:p>
        </p:txBody>
      </p:sp>
      <p:sp>
        <p:nvSpPr>
          <p:cNvPr id="9" name="Text 7"/>
          <p:cNvSpPr/>
          <p:nvPr/>
        </p:nvSpPr>
        <p:spPr>
          <a:xfrm>
            <a:off x="1051560" y="2258568"/>
            <a:ext cx="3291840" cy="27432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Start with compromised accounts, then other accounts with the same password</a:t>
            </a:r>
            <a:endParaRPr lang="en-US" sz="1000" dirty="0"/>
          </a:p>
        </p:txBody>
      </p:sp>
      <p:sp>
        <p:nvSpPr>
          <p:cNvPr id="10" name="Shape 8"/>
          <p:cNvSpPr/>
          <p:nvPr/>
        </p:nvSpPr>
        <p:spPr>
          <a:xfrm>
            <a:off x="4937760" y="1828800"/>
            <a:ext cx="4023360" cy="7772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5074920" y="1965960"/>
            <a:ext cx="365760" cy="365760"/>
          </a:xfrm>
          <a:prstGeom prst="ellipse">
            <a:avLst/>
          </a:prstGeom>
          <a:solidFill>
            <a:srgbClr val="F39C12"/>
          </a:solidFill>
          <a:ln/>
        </p:spPr>
        <p:txBody>
          <a:bodyPr/>
          <a:lstStyle/>
          <a:p>
            <a:endParaRPr lang="en-IN"/>
          </a:p>
        </p:txBody>
      </p:sp>
      <p:sp>
        <p:nvSpPr>
          <p:cNvPr id="12" name="Text 10"/>
          <p:cNvSpPr/>
          <p:nvPr/>
        </p:nvSpPr>
        <p:spPr>
          <a:xfrm>
            <a:off x="5074920" y="1965960"/>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3" name="Text 11"/>
          <p:cNvSpPr/>
          <p:nvPr/>
        </p:nvSpPr>
        <p:spPr>
          <a:xfrm>
            <a:off x="5532120" y="1965960"/>
            <a:ext cx="3291840" cy="27432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Enable MFA</a:t>
            </a:r>
            <a:endParaRPr lang="en-US" sz="1300" dirty="0"/>
          </a:p>
        </p:txBody>
      </p:sp>
      <p:sp>
        <p:nvSpPr>
          <p:cNvPr id="14" name="Text 12"/>
          <p:cNvSpPr/>
          <p:nvPr/>
        </p:nvSpPr>
        <p:spPr>
          <a:xfrm>
            <a:off x="5532120" y="2258568"/>
            <a:ext cx="3291840" cy="27432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Add multi-factor authentication if not already enabled</a:t>
            </a:r>
            <a:endParaRPr lang="en-US" sz="1000" dirty="0"/>
          </a:p>
        </p:txBody>
      </p:sp>
      <p:sp>
        <p:nvSpPr>
          <p:cNvPr id="15" name="Shape 13"/>
          <p:cNvSpPr/>
          <p:nvPr/>
        </p:nvSpPr>
        <p:spPr>
          <a:xfrm>
            <a:off x="457200" y="2743200"/>
            <a:ext cx="4023360" cy="7772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594360" y="2880360"/>
            <a:ext cx="365760" cy="365760"/>
          </a:xfrm>
          <a:prstGeom prst="ellipse">
            <a:avLst/>
          </a:prstGeom>
          <a:solidFill>
            <a:srgbClr val="F39C12"/>
          </a:solidFill>
          <a:ln/>
        </p:spPr>
        <p:txBody>
          <a:bodyPr/>
          <a:lstStyle/>
          <a:p>
            <a:endParaRPr lang="en-IN"/>
          </a:p>
        </p:txBody>
      </p:sp>
      <p:sp>
        <p:nvSpPr>
          <p:cNvPr id="17" name="Text 15"/>
          <p:cNvSpPr/>
          <p:nvPr/>
        </p:nvSpPr>
        <p:spPr>
          <a:xfrm>
            <a:off x="594360" y="2880360"/>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18" name="Text 16"/>
          <p:cNvSpPr/>
          <p:nvPr/>
        </p:nvSpPr>
        <p:spPr>
          <a:xfrm>
            <a:off x="1051560" y="2880360"/>
            <a:ext cx="3291840" cy="27432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Notify IT Security</a:t>
            </a:r>
            <a:endParaRPr lang="en-US" sz="1300" dirty="0"/>
          </a:p>
        </p:txBody>
      </p:sp>
      <p:sp>
        <p:nvSpPr>
          <p:cNvPr id="19" name="Text 17"/>
          <p:cNvSpPr/>
          <p:nvPr/>
        </p:nvSpPr>
        <p:spPr>
          <a:xfrm>
            <a:off x="1051560" y="3172968"/>
            <a:ext cx="3291840" cy="27432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Report the incident to your organization's security team right away</a:t>
            </a:r>
            <a:endParaRPr lang="en-US" sz="1000" dirty="0"/>
          </a:p>
        </p:txBody>
      </p:sp>
      <p:sp>
        <p:nvSpPr>
          <p:cNvPr id="20" name="Shape 18"/>
          <p:cNvSpPr/>
          <p:nvPr/>
        </p:nvSpPr>
        <p:spPr>
          <a:xfrm>
            <a:off x="4937760" y="2743200"/>
            <a:ext cx="4023360" cy="7772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1" name="Shape 19"/>
          <p:cNvSpPr/>
          <p:nvPr/>
        </p:nvSpPr>
        <p:spPr>
          <a:xfrm>
            <a:off x="5074920" y="2880360"/>
            <a:ext cx="365760" cy="365760"/>
          </a:xfrm>
          <a:prstGeom prst="ellipse">
            <a:avLst/>
          </a:prstGeom>
          <a:solidFill>
            <a:srgbClr val="F39C12"/>
          </a:solidFill>
          <a:ln/>
        </p:spPr>
        <p:txBody>
          <a:bodyPr/>
          <a:lstStyle/>
          <a:p>
            <a:endParaRPr lang="en-IN"/>
          </a:p>
        </p:txBody>
      </p:sp>
      <p:sp>
        <p:nvSpPr>
          <p:cNvPr id="22" name="Text 20"/>
          <p:cNvSpPr/>
          <p:nvPr/>
        </p:nvSpPr>
        <p:spPr>
          <a:xfrm>
            <a:off x="5074920" y="2880360"/>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23" name="Text 21"/>
          <p:cNvSpPr/>
          <p:nvPr/>
        </p:nvSpPr>
        <p:spPr>
          <a:xfrm>
            <a:off x="5532120" y="2880360"/>
            <a:ext cx="3291840" cy="27432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Monitor Your Accounts</a:t>
            </a:r>
            <a:endParaRPr lang="en-US" sz="1300" dirty="0"/>
          </a:p>
        </p:txBody>
      </p:sp>
      <p:sp>
        <p:nvSpPr>
          <p:cNvPr id="24" name="Text 22"/>
          <p:cNvSpPr/>
          <p:nvPr/>
        </p:nvSpPr>
        <p:spPr>
          <a:xfrm>
            <a:off x="5532120" y="3172968"/>
            <a:ext cx="3291840" cy="27432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Watch for unauthorized transactions or suspicious activity</a:t>
            </a:r>
            <a:endParaRPr lang="en-US" sz="1000" dirty="0"/>
          </a:p>
        </p:txBody>
      </p:sp>
      <p:sp>
        <p:nvSpPr>
          <p:cNvPr id="25" name="Shape 23"/>
          <p:cNvSpPr/>
          <p:nvPr/>
        </p:nvSpPr>
        <p:spPr>
          <a:xfrm>
            <a:off x="457200" y="3657600"/>
            <a:ext cx="4023360" cy="7772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594360" y="3794760"/>
            <a:ext cx="365760" cy="365760"/>
          </a:xfrm>
          <a:prstGeom prst="ellipse">
            <a:avLst/>
          </a:prstGeom>
          <a:solidFill>
            <a:srgbClr val="F39C12"/>
          </a:solidFill>
          <a:ln/>
        </p:spPr>
        <p:txBody>
          <a:bodyPr/>
          <a:lstStyle/>
          <a:p>
            <a:endParaRPr lang="en-IN"/>
          </a:p>
        </p:txBody>
      </p:sp>
      <p:sp>
        <p:nvSpPr>
          <p:cNvPr id="27" name="Text 25"/>
          <p:cNvSpPr/>
          <p:nvPr/>
        </p:nvSpPr>
        <p:spPr>
          <a:xfrm>
            <a:off x="594360" y="3794760"/>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28" name="Text 26"/>
          <p:cNvSpPr/>
          <p:nvPr/>
        </p:nvSpPr>
        <p:spPr>
          <a:xfrm>
            <a:off x="1051560" y="3794760"/>
            <a:ext cx="3291840" cy="27432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Run Security Scans</a:t>
            </a:r>
            <a:endParaRPr lang="en-US" sz="1300" dirty="0"/>
          </a:p>
        </p:txBody>
      </p:sp>
      <p:sp>
        <p:nvSpPr>
          <p:cNvPr id="29" name="Text 27"/>
          <p:cNvSpPr/>
          <p:nvPr/>
        </p:nvSpPr>
        <p:spPr>
          <a:xfrm>
            <a:off x="1051560" y="4087368"/>
            <a:ext cx="3291840" cy="27432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Scan your device with anti-malware software</a:t>
            </a:r>
            <a:endParaRPr lang="en-US" sz="1000" dirty="0"/>
          </a:p>
        </p:txBody>
      </p:sp>
      <p:sp>
        <p:nvSpPr>
          <p:cNvPr id="30" name="Shape 28"/>
          <p:cNvSpPr/>
          <p:nvPr/>
        </p:nvSpPr>
        <p:spPr>
          <a:xfrm>
            <a:off x="4937760" y="3657600"/>
            <a:ext cx="4023360" cy="7772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31" name="Shape 29"/>
          <p:cNvSpPr/>
          <p:nvPr/>
        </p:nvSpPr>
        <p:spPr>
          <a:xfrm>
            <a:off x="5074920" y="3794760"/>
            <a:ext cx="365760" cy="365760"/>
          </a:xfrm>
          <a:prstGeom prst="ellipse">
            <a:avLst/>
          </a:prstGeom>
          <a:solidFill>
            <a:srgbClr val="F39C12"/>
          </a:solidFill>
          <a:ln/>
        </p:spPr>
        <p:txBody>
          <a:bodyPr/>
          <a:lstStyle/>
          <a:p>
            <a:endParaRPr lang="en-IN"/>
          </a:p>
        </p:txBody>
      </p:sp>
      <p:sp>
        <p:nvSpPr>
          <p:cNvPr id="32" name="Text 30"/>
          <p:cNvSpPr/>
          <p:nvPr/>
        </p:nvSpPr>
        <p:spPr>
          <a:xfrm>
            <a:off x="5074920" y="3794760"/>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6</a:t>
            </a:r>
            <a:endParaRPr lang="en-US" sz="1800" dirty="0"/>
          </a:p>
        </p:txBody>
      </p:sp>
      <p:sp>
        <p:nvSpPr>
          <p:cNvPr id="33" name="Text 31"/>
          <p:cNvSpPr/>
          <p:nvPr/>
        </p:nvSpPr>
        <p:spPr>
          <a:xfrm>
            <a:off x="5532120" y="3794760"/>
            <a:ext cx="3291840" cy="27432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Warn Others</a:t>
            </a:r>
            <a:endParaRPr lang="en-US" sz="1300" dirty="0"/>
          </a:p>
        </p:txBody>
      </p:sp>
      <p:sp>
        <p:nvSpPr>
          <p:cNvPr id="34" name="Text 32"/>
          <p:cNvSpPr/>
          <p:nvPr/>
        </p:nvSpPr>
        <p:spPr>
          <a:xfrm>
            <a:off x="5532120" y="4087368"/>
            <a:ext cx="3291840" cy="274320"/>
          </a:xfrm>
          <a:prstGeom prst="rect">
            <a:avLst/>
          </a:prstGeom>
          <a:noFill/>
          <a:ln/>
        </p:spPr>
        <p:txBody>
          <a:bodyPr wrap="square" rtlCol="0" anchor="ctr"/>
          <a:lstStyle/>
          <a:p>
            <a:pPr marL="0" indent="0">
              <a:buNone/>
            </a:pPr>
            <a:r>
              <a:rPr lang="en-US" sz="1000" dirty="0">
                <a:solidFill>
                  <a:srgbClr val="2C3E50"/>
                </a:solidFill>
                <a:latin typeface="Arial" pitchFamily="34" charset="0"/>
                <a:ea typeface="Arial" pitchFamily="34" charset="-122"/>
                <a:cs typeface="Arial" pitchFamily="34" charset="-120"/>
              </a:rPr>
              <a:t>Alert contacts who might receive phishing emails from your compromised account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5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14800" y="1371600"/>
            <a:ext cx="914400" cy="914400"/>
          </a:xfrm>
          <a:prstGeom prst="rect">
            <a:avLst/>
          </a:prstGeom>
        </p:spPr>
      </p:pic>
      <p:sp>
        <p:nvSpPr>
          <p:cNvPr id="3" name="Text 0"/>
          <p:cNvSpPr/>
          <p:nvPr/>
        </p:nvSpPr>
        <p:spPr>
          <a:xfrm>
            <a:off x="457200" y="2560320"/>
            <a:ext cx="8229600" cy="548640"/>
          </a:xfrm>
          <a:prstGeom prst="rect">
            <a:avLst/>
          </a:prstGeom>
          <a:noFill/>
          <a:ln/>
        </p:spPr>
        <p:txBody>
          <a:bodyPr wrap="square" rtlCol="0" anchor="ctr"/>
          <a:lstStyle/>
          <a:p>
            <a:pPr marL="0" indent="0" algn="ctr">
              <a:buNone/>
            </a:pPr>
            <a:r>
              <a:rPr lang="en-US" sz="4400" b="1" dirty="0">
                <a:solidFill>
                  <a:srgbClr val="FFFFFF"/>
                </a:solidFill>
                <a:latin typeface="Arial Black" pitchFamily="34" charset="0"/>
                <a:ea typeface="Arial Black" pitchFamily="34" charset="-122"/>
                <a:cs typeface="Arial Black" pitchFamily="34" charset="-120"/>
              </a:rPr>
              <a:t>KNOWLEDGE CHECK</a:t>
            </a:r>
            <a:endParaRPr lang="en-US" sz="4400" dirty="0"/>
          </a:p>
        </p:txBody>
      </p:sp>
      <p:sp>
        <p:nvSpPr>
          <p:cNvPr id="4" name="Text 1"/>
          <p:cNvSpPr/>
          <p:nvPr/>
        </p:nvSpPr>
        <p:spPr>
          <a:xfrm>
            <a:off x="457200" y="3200400"/>
            <a:ext cx="8229600" cy="365760"/>
          </a:xfrm>
          <a:prstGeom prst="rect">
            <a:avLst/>
          </a:prstGeom>
          <a:noFill/>
          <a:ln/>
        </p:spPr>
        <p:txBody>
          <a:bodyPr wrap="square" rtlCol="0" anchor="ctr"/>
          <a:lstStyle/>
          <a:p>
            <a:pPr marL="0" indent="0" algn="ctr">
              <a:buNone/>
            </a:pPr>
            <a:r>
              <a:rPr lang="en-US" sz="1800" dirty="0">
                <a:solidFill>
                  <a:srgbClr val="F39C12"/>
                </a:solidFill>
                <a:latin typeface="Arial" pitchFamily="34" charset="0"/>
                <a:ea typeface="Arial" pitchFamily="34" charset="-122"/>
                <a:cs typeface="Arial" pitchFamily="34" charset="-120"/>
              </a:rPr>
              <a:t>Test Your Phishing Detection Skills</a:t>
            </a:r>
            <a:endParaRPr lang="en-US" sz="1800" dirty="0"/>
          </a:p>
        </p:txBody>
      </p:sp>
      <p:sp>
        <p:nvSpPr>
          <p:cNvPr id="5" name="Text 2"/>
          <p:cNvSpPr/>
          <p:nvPr/>
        </p:nvSpPr>
        <p:spPr>
          <a:xfrm>
            <a:off x="457200" y="4114800"/>
            <a:ext cx="8229600" cy="274320"/>
          </a:xfrm>
          <a:prstGeom prst="rect">
            <a:avLst/>
          </a:prstGeom>
          <a:noFill/>
          <a:ln/>
        </p:spPr>
        <p:txBody>
          <a:bodyPr wrap="square" rtlCol="0" anchor="ctr"/>
          <a:lstStyle/>
          <a:p>
            <a:pPr marL="0" indent="0" algn="ctr">
              <a:buNone/>
            </a:pPr>
            <a:r>
              <a:rPr lang="en-US" sz="1300" i="1" dirty="0">
                <a:solidFill>
                  <a:srgbClr val="F8F9FA"/>
                </a:solidFill>
                <a:latin typeface="Arial" pitchFamily="34" charset="0"/>
                <a:ea typeface="Arial" pitchFamily="34" charset="-122"/>
                <a:cs typeface="Arial" pitchFamily="34" charset="-120"/>
              </a:rPr>
              <a:t>The following slides contain quiz questions to help reinforce your learning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lIns="0" tIns="0" rIns="0" bIns="0" rtlCol="0" anchor="ctr"/>
          <a:lstStyle/>
          <a:p>
            <a:pPr marL="0" indent="0">
              <a:buNone/>
            </a:pPr>
            <a:r>
              <a:rPr lang="en-US" sz="3200" b="1" dirty="0">
                <a:solidFill>
                  <a:srgbClr val="1E3A5F"/>
                </a:solidFill>
                <a:latin typeface="Arial Black" pitchFamily="34" charset="0"/>
                <a:ea typeface="Arial Black" pitchFamily="34" charset="-122"/>
                <a:cs typeface="Arial Black" pitchFamily="34" charset="-120"/>
              </a:rPr>
              <a:t>Quiz Question 1</a:t>
            </a:r>
            <a:endParaRPr lang="en-US" sz="3200" dirty="0"/>
          </a:p>
        </p:txBody>
      </p:sp>
      <p:sp>
        <p:nvSpPr>
          <p:cNvPr id="3" name="Shape 1"/>
          <p:cNvSpPr/>
          <p:nvPr/>
        </p:nvSpPr>
        <p:spPr>
          <a:xfrm>
            <a:off x="457200" y="1005840"/>
            <a:ext cx="822960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Text 2"/>
          <p:cNvSpPr/>
          <p:nvPr/>
        </p:nvSpPr>
        <p:spPr>
          <a:xfrm>
            <a:off x="640080" y="1188720"/>
            <a:ext cx="7863840" cy="640080"/>
          </a:xfrm>
          <a:prstGeom prst="rect">
            <a:avLst/>
          </a:prstGeom>
          <a:noFill/>
          <a:ln/>
        </p:spPr>
        <p:txBody>
          <a:bodyPr wrap="square" rtlCol="0" anchor="ctr"/>
          <a:lstStyle/>
          <a:p>
            <a:pPr marL="0" indent="0">
              <a:buNone/>
            </a:pPr>
            <a:r>
              <a:rPr lang="en-US" sz="1500" b="1" dirty="0">
                <a:solidFill>
                  <a:srgbClr val="2C3E50"/>
                </a:solidFill>
                <a:latin typeface="Arial" pitchFamily="34" charset="0"/>
                <a:ea typeface="Arial" pitchFamily="34" charset="-122"/>
                <a:cs typeface="Arial" pitchFamily="34" charset="-120"/>
              </a:rPr>
              <a:t>You receive an email from 'support@paypa1.com' asking you to update your payment information. What should you do?</a:t>
            </a:r>
            <a:endParaRPr lang="en-US" sz="1500" dirty="0"/>
          </a:p>
        </p:txBody>
      </p:sp>
      <p:sp>
        <p:nvSpPr>
          <p:cNvPr id="5" name="Shape 3"/>
          <p:cNvSpPr/>
          <p:nvPr/>
        </p:nvSpPr>
        <p:spPr>
          <a:xfrm>
            <a:off x="457200" y="2103120"/>
            <a:ext cx="8229600" cy="548640"/>
          </a:xfrm>
          <a:prstGeom prst="rect">
            <a:avLst/>
          </a:prstGeom>
          <a:solidFill>
            <a:srgbClr val="FFFFFF"/>
          </a:solidFill>
          <a:ln w="12700">
            <a:solidFill>
              <a:srgbClr val="1E3A5F"/>
            </a:solidFill>
            <a:prstDash val="solid"/>
          </a:ln>
        </p:spPr>
        <p:txBody>
          <a:bodyPr/>
          <a:lstStyle/>
          <a:p>
            <a:endParaRPr lang="en-IN"/>
          </a:p>
        </p:txBody>
      </p:sp>
      <p:sp>
        <p:nvSpPr>
          <p:cNvPr id="6" name="Text 4"/>
          <p:cNvSpPr/>
          <p:nvPr/>
        </p:nvSpPr>
        <p:spPr>
          <a:xfrm>
            <a:off x="640080" y="214884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A</a:t>
            </a:r>
            <a:endParaRPr lang="en-US" sz="1600" dirty="0"/>
          </a:p>
        </p:txBody>
      </p:sp>
      <p:sp>
        <p:nvSpPr>
          <p:cNvPr id="7" name="Text 5"/>
          <p:cNvSpPr/>
          <p:nvPr/>
        </p:nvSpPr>
        <p:spPr>
          <a:xfrm>
            <a:off x="1188720" y="2194560"/>
            <a:ext cx="7315200" cy="365760"/>
          </a:xfrm>
          <a:prstGeom prst="rect">
            <a:avLst/>
          </a:prstGeom>
          <a:noFill/>
          <a:ln/>
        </p:spPr>
        <p:txBody>
          <a:bodyPr wrap="square" rtlCol="0" anchor="ctr"/>
          <a:lstStyle/>
          <a:p>
            <a:pPr marL="0" indent="0">
              <a:buNone/>
            </a:pPr>
            <a:r>
              <a:rPr lang="en-US" sz="1300" dirty="0">
                <a:solidFill>
                  <a:srgbClr val="2C3E50"/>
                </a:solidFill>
                <a:latin typeface="Arial" pitchFamily="34" charset="0"/>
                <a:ea typeface="Arial" pitchFamily="34" charset="-122"/>
                <a:cs typeface="Arial" pitchFamily="34" charset="-120"/>
              </a:rPr>
              <a:t>Click the link and update your information immediately</a:t>
            </a:r>
            <a:endParaRPr lang="en-US" sz="1300" dirty="0"/>
          </a:p>
        </p:txBody>
      </p:sp>
      <p:sp>
        <p:nvSpPr>
          <p:cNvPr id="8" name="Shape 6"/>
          <p:cNvSpPr/>
          <p:nvPr/>
        </p:nvSpPr>
        <p:spPr>
          <a:xfrm>
            <a:off x="457200" y="2743200"/>
            <a:ext cx="8229600" cy="548640"/>
          </a:xfrm>
          <a:prstGeom prst="rect">
            <a:avLst/>
          </a:prstGeom>
          <a:solidFill>
            <a:srgbClr val="FFFFFF"/>
          </a:solidFill>
          <a:ln w="12700">
            <a:solidFill>
              <a:srgbClr val="1E3A5F"/>
            </a:solidFill>
            <a:prstDash val="solid"/>
          </a:ln>
        </p:spPr>
        <p:txBody>
          <a:bodyPr/>
          <a:lstStyle/>
          <a:p>
            <a:endParaRPr lang="en-IN"/>
          </a:p>
        </p:txBody>
      </p:sp>
      <p:sp>
        <p:nvSpPr>
          <p:cNvPr id="9" name="Text 7"/>
          <p:cNvSpPr/>
          <p:nvPr/>
        </p:nvSpPr>
        <p:spPr>
          <a:xfrm>
            <a:off x="640080" y="278892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B</a:t>
            </a:r>
            <a:endParaRPr lang="en-US" sz="1600" dirty="0"/>
          </a:p>
        </p:txBody>
      </p:sp>
      <p:sp>
        <p:nvSpPr>
          <p:cNvPr id="10" name="Text 8"/>
          <p:cNvSpPr/>
          <p:nvPr/>
        </p:nvSpPr>
        <p:spPr>
          <a:xfrm>
            <a:off x="1188720" y="2834640"/>
            <a:ext cx="7315200" cy="365760"/>
          </a:xfrm>
          <a:prstGeom prst="rect">
            <a:avLst/>
          </a:prstGeom>
          <a:noFill/>
          <a:ln/>
        </p:spPr>
        <p:txBody>
          <a:bodyPr wrap="square" rtlCol="0" anchor="ctr"/>
          <a:lstStyle/>
          <a:p>
            <a:pPr marL="0" indent="0">
              <a:buNone/>
            </a:pPr>
            <a:r>
              <a:rPr lang="en-US" sz="1300" dirty="0">
                <a:solidFill>
                  <a:srgbClr val="2C3E50"/>
                </a:solidFill>
                <a:latin typeface="Arial" pitchFamily="34" charset="0"/>
                <a:ea typeface="Arial" pitchFamily="34" charset="-122"/>
                <a:cs typeface="Arial" pitchFamily="34" charset="-120"/>
              </a:rPr>
              <a:t>Delete the email without responding</a:t>
            </a:r>
            <a:endParaRPr lang="en-US" sz="1300" dirty="0"/>
          </a:p>
        </p:txBody>
      </p:sp>
      <p:sp>
        <p:nvSpPr>
          <p:cNvPr id="11" name="Shape 9"/>
          <p:cNvSpPr/>
          <p:nvPr/>
        </p:nvSpPr>
        <p:spPr>
          <a:xfrm>
            <a:off x="457200" y="3383280"/>
            <a:ext cx="8229600" cy="548640"/>
          </a:xfrm>
          <a:prstGeom prst="rect">
            <a:avLst/>
          </a:prstGeom>
          <a:solidFill>
            <a:srgbClr val="27AE60"/>
          </a:solidFill>
          <a:ln w="12700">
            <a:solidFill>
              <a:srgbClr val="1E3A5F"/>
            </a:solidFill>
            <a:prstDash val="solid"/>
          </a:ln>
        </p:spPr>
        <p:txBody>
          <a:bodyPr/>
          <a:lstStyle/>
          <a:p>
            <a:endParaRPr lang="en-IN"/>
          </a:p>
        </p:txBody>
      </p:sp>
      <p:sp>
        <p:nvSpPr>
          <p:cNvPr id="12" name="Text 10"/>
          <p:cNvSpPr/>
          <p:nvPr/>
        </p:nvSpPr>
        <p:spPr>
          <a:xfrm>
            <a:off x="640080" y="3429000"/>
            <a:ext cx="365760" cy="45720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C</a:t>
            </a:r>
            <a:endParaRPr lang="en-US" sz="1600" dirty="0"/>
          </a:p>
        </p:txBody>
      </p:sp>
      <p:sp>
        <p:nvSpPr>
          <p:cNvPr id="13" name="Text 11"/>
          <p:cNvSpPr/>
          <p:nvPr/>
        </p:nvSpPr>
        <p:spPr>
          <a:xfrm>
            <a:off x="1188720" y="3474720"/>
            <a:ext cx="7315200" cy="36576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Notice the misspelled domain (paypa1 vs paypal), do not click, and report as phishing</a:t>
            </a:r>
            <a:endParaRPr lang="en-US" sz="1300" dirty="0"/>
          </a:p>
        </p:txBody>
      </p:sp>
      <p:sp>
        <p:nvSpPr>
          <p:cNvPr id="14" name="Shape 12"/>
          <p:cNvSpPr/>
          <p:nvPr/>
        </p:nvSpPr>
        <p:spPr>
          <a:xfrm>
            <a:off x="457200" y="4023360"/>
            <a:ext cx="8229600" cy="548640"/>
          </a:xfrm>
          <a:prstGeom prst="rect">
            <a:avLst/>
          </a:prstGeom>
          <a:solidFill>
            <a:srgbClr val="FFFFFF"/>
          </a:solidFill>
          <a:ln w="12700">
            <a:solidFill>
              <a:srgbClr val="1E3A5F"/>
            </a:solidFill>
            <a:prstDash val="solid"/>
          </a:ln>
        </p:spPr>
        <p:txBody>
          <a:bodyPr/>
          <a:lstStyle/>
          <a:p>
            <a:endParaRPr lang="en-IN"/>
          </a:p>
        </p:txBody>
      </p:sp>
      <p:sp>
        <p:nvSpPr>
          <p:cNvPr id="15" name="Text 13"/>
          <p:cNvSpPr/>
          <p:nvPr/>
        </p:nvSpPr>
        <p:spPr>
          <a:xfrm>
            <a:off x="640080" y="406908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D</a:t>
            </a:r>
            <a:endParaRPr lang="en-US" sz="1600" dirty="0"/>
          </a:p>
        </p:txBody>
      </p:sp>
      <p:sp>
        <p:nvSpPr>
          <p:cNvPr id="16" name="Text 14"/>
          <p:cNvSpPr/>
          <p:nvPr/>
        </p:nvSpPr>
        <p:spPr>
          <a:xfrm>
            <a:off x="1188720" y="4114800"/>
            <a:ext cx="7315200" cy="365760"/>
          </a:xfrm>
          <a:prstGeom prst="rect">
            <a:avLst/>
          </a:prstGeom>
          <a:noFill/>
          <a:ln/>
        </p:spPr>
        <p:txBody>
          <a:bodyPr wrap="square" rtlCol="0" anchor="ctr"/>
          <a:lstStyle/>
          <a:p>
            <a:pPr marL="0" indent="0">
              <a:buNone/>
            </a:pPr>
            <a:r>
              <a:rPr lang="en-US" sz="1300" dirty="0">
                <a:solidFill>
                  <a:srgbClr val="2C3E50"/>
                </a:solidFill>
                <a:latin typeface="Arial" pitchFamily="34" charset="0"/>
                <a:ea typeface="Arial" pitchFamily="34" charset="-122"/>
                <a:cs typeface="Arial" pitchFamily="34" charset="-120"/>
              </a:rPr>
              <a:t>Reply to ask if the email is legitimate</a:t>
            </a:r>
            <a:endParaRPr lang="en-US" sz="1300" dirty="0"/>
          </a:p>
        </p:txBody>
      </p:sp>
      <p:sp>
        <p:nvSpPr>
          <p:cNvPr id="17" name="Text 15"/>
          <p:cNvSpPr/>
          <p:nvPr/>
        </p:nvSpPr>
        <p:spPr>
          <a:xfrm>
            <a:off x="457200" y="4663440"/>
            <a:ext cx="8229600" cy="274320"/>
          </a:xfrm>
          <a:prstGeom prst="rect">
            <a:avLst/>
          </a:prstGeom>
          <a:noFill/>
          <a:ln/>
        </p:spPr>
        <p:txBody>
          <a:bodyPr wrap="square" rtlCol="0" anchor="ctr"/>
          <a:lstStyle/>
          <a:p>
            <a:pPr marL="0" indent="0">
              <a:buNone/>
            </a:pPr>
            <a:r>
              <a:rPr lang="en-US" sz="1100" i="1" dirty="0">
                <a:solidFill>
                  <a:srgbClr val="27AE60"/>
                </a:solidFill>
                <a:latin typeface="Arial" pitchFamily="34" charset="0"/>
                <a:ea typeface="Arial" pitchFamily="34" charset="-122"/>
                <a:cs typeface="Arial" pitchFamily="34" charset="-120"/>
              </a:rPr>
              <a:t>✓ Answer: C - Always verify the sender's email address carefully. The misspelling is a major red flag.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lIns="0" tIns="0" rIns="0" bIns="0" rtlCol="0" anchor="ctr"/>
          <a:lstStyle/>
          <a:p>
            <a:pPr marL="0" indent="0">
              <a:buNone/>
            </a:pPr>
            <a:r>
              <a:rPr lang="en-US" sz="3200" b="1" dirty="0">
                <a:solidFill>
                  <a:srgbClr val="1E3A5F"/>
                </a:solidFill>
                <a:latin typeface="Arial Black" pitchFamily="34" charset="0"/>
                <a:ea typeface="Arial Black" pitchFamily="34" charset="-122"/>
                <a:cs typeface="Arial Black" pitchFamily="34" charset="-120"/>
              </a:rPr>
              <a:t>Quiz Question 2</a:t>
            </a:r>
            <a:endParaRPr lang="en-US" sz="3200" dirty="0"/>
          </a:p>
        </p:txBody>
      </p:sp>
      <p:sp>
        <p:nvSpPr>
          <p:cNvPr id="3" name="Shape 1"/>
          <p:cNvSpPr/>
          <p:nvPr/>
        </p:nvSpPr>
        <p:spPr>
          <a:xfrm>
            <a:off x="457200" y="1005840"/>
            <a:ext cx="8229600"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Text 2"/>
          <p:cNvSpPr/>
          <p:nvPr/>
        </p:nvSpPr>
        <p:spPr>
          <a:xfrm>
            <a:off x="640080" y="1188720"/>
            <a:ext cx="7863840" cy="457200"/>
          </a:xfrm>
          <a:prstGeom prst="rect">
            <a:avLst/>
          </a:prstGeom>
          <a:noFill/>
          <a:ln/>
        </p:spPr>
        <p:txBody>
          <a:bodyPr wrap="square" rtlCol="0" anchor="ctr"/>
          <a:lstStyle/>
          <a:p>
            <a:pPr marL="0" indent="0">
              <a:buNone/>
            </a:pPr>
            <a:r>
              <a:rPr lang="en-US" sz="1500" b="1" dirty="0">
                <a:solidFill>
                  <a:srgbClr val="2C3E50"/>
                </a:solidFill>
                <a:latin typeface="Arial" pitchFamily="34" charset="0"/>
                <a:ea typeface="Arial" pitchFamily="34" charset="-122"/>
                <a:cs typeface="Arial" pitchFamily="34" charset="-120"/>
              </a:rPr>
              <a:t>Which of these is NOT a common sign of a phishing email?</a:t>
            </a:r>
            <a:endParaRPr lang="en-US" sz="1500" dirty="0"/>
          </a:p>
        </p:txBody>
      </p:sp>
      <p:sp>
        <p:nvSpPr>
          <p:cNvPr id="5" name="Shape 3"/>
          <p:cNvSpPr/>
          <p:nvPr/>
        </p:nvSpPr>
        <p:spPr>
          <a:xfrm>
            <a:off x="457200" y="1920240"/>
            <a:ext cx="8229600" cy="548640"/>
          </a:xfrm>
          <a:prstGeom prst="rect">
            <a:avLst/>
          </a:prstGeom>
          <a:solidFill>
            <a:srgbClr val="FFFFFF"/>
          </a:solidFill>
          <a:ln w="12700">
            <a:solidFill>
              <a:srgbClr val="1E3A5F"/>
            </a:solidFill>
            <a:prstDash val="solid"/>
          </a:ln>
        </p:spPr>
        <p:txBody>
          <a:bodyPr/>
          <a:lstStyle/>
          <a:p>
            <a:endParaRPr lang="en-IN"/>
          </a:p>
        </p:txBody>
      </p:sp>
      <p:sp>
        <p:nvSpPr>
          <p:cNvPr id="6" name="Text 4"/>
          <p:cNvSpPr/>
          <p:nvPr/>
        </p:nvSpPr>
        <p:spPr>
          <a:xfrm>
            <a:off x="640080" y="196596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A</a:t>
            </a:r>
            <a:endParaRPr lang="en-US" sz="1600" dirty="0"/>
          </a:p>
        </p:txBody>
      </p:sp>
      <p:sp>
        <p:nvSpPr>
          <p:cNvPr id="7" name="Text 5"/>
          <p:cNvSpPr/>
          <p:nvPr/>
        </p:nvSpPr>
        <p:spPr>
          <a:xfrm>
            <a:off x="1188720" y="2011680"/>
            <a:ext cx="7315200" cy="365760"/>
          </a:xfrm>
          <a:prstGeom prst="rect">
            <a:avLst/>
          </a:prstGeom>
          <a:noFill/>
          <a:ln/>
        </p:spPr>
        <p:txBody>
          <a:bodyPr wrap="square" rtlCol="0" anchor="ctr"/>
          <a:lstStyle/>
          <a:p>
            <a:pPr marL="0" indent="0">
              <a:buNone/>
            </a:pPr>
            <a:r>
              <a:rPr lang="en-US" sz="1300" dirty="0">
                <a:solidFill>
                  <a:srgbClr val="2C3E50"/>
                </a:solidFill>
                <a:latin typeface="Arial" pitchFamily="34" charset="0"/>
                <a:ea typeface="Arial" pitchFamily="34" charset="-122"/>
                <a:cs typeface="Arial" pitchFamily="34" charset="-120"/>
              </a:rPr>
              <a:t>Urgent language demanding immediate action</a:t>
            </a:r>
            <a:endParaRPr lang="en-US" sz="1300" dirty="0"/>
          </a:p>
        </p:txBody>
      </p:sp>
      <p:sp>
        <p:nvSpPr>
          <p:cNvPr id="8" name="Shape 6"/>
          <p:cNvSpPr/>
          <p:nvPr/>
        </p:nvSpPr>
        <p:spPr>
          <a:xfrm>
            <a:off x="457200" y="2560320"/>
            <a:ext cx="8229600" cy="548640"/>
          </a:xfrm>
          <a:prstGeom prst="rect">
            <a:avLst/>
          </a:prstGeom>
          <a:solidFill>
            <a:srgbClr val="FFFFFF"/>
          </a:solidFill>
          <a:ln w="12700">
            <a:solidFill>
              <a:srgbClr val="1E3A5F"/>
            </a:solidFill>
            <a:prstDash val="solid"/>
          </a:ln>
        </p:spPr>
        <p:txBody>
          <a:bodyPr/>
          <a:lstStyle/>
          <a:p>
            <a:endParaRPr lang="en-IN"/>
          </a:p>
        </p:txBody>
      </p:sp>
      <p:sp>
        <p:nvSpPr>
          <p:cNvPr id="9" name="Text 7"/>
          <p:cNvSpPr/>
          <p:nvPr/>
        </p:nvSpPr>
        <p:spPr>
          <a:xfrm>
            <a:off x="640080" y="260604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B</a:t>
            </a:r>
            <a:endParaRPr lang="en-US" sz="1600" dirty="0"/>
          </a:p>
        </p:txBody>
      </p:sp>
      <p:sp>
        <p:nvSpPr>
          <p:cNvPr id="10" name="Text 8"/>
          <p:cNvSpPr/>
          <p:nvPr/>
        </p:nvSpPr>
        <p:spPr>
          <a:xfrm>
            <a:off x="1188720" y="2651760"/>
            <a:ext cx="7315200" cy="365760"/>
          </a:xfrm>
          <a:prstGeom prst="rect">
            <a:avLst/>
          </a:prstGeom>
          <a:noFill/>
          <a:ln/>
        </p:spPr>
        <p:txBody>
          <a:bodyPr wrap="square" rtlCol="0" anchor="ctr"/>
          <a:lstStyle/>
          <a:p>
            <a:pPr marL="0" indent="0">
              <a:buNone/>
            </a:pPr>
            <a:r>
              <a:rPr lang="en-US" sz="1300" dirty="0">
                <a:solidFill>
                  <a:srgbClr val="2C3E50"/>
                </a:solidFill>
                <a:latin typeface="Arial" pitchFamily="34" charset="0"/>
                <a:ea typeface="Arial" pitchFamily="34" charset="-122"/>
                <a:cs typeface="Arial" pitchFamily="34" charset="-120"/>
              </a:rPr>
              <a:t>Generic greetings like 'Dear Customer'</a:t>
            </a:r>
            <a:endParaRPr lang="en-US" sz="1300" dirty="0"/>
          </a:p>
        </p:txBody>
      </p:sp>
      <p:sp>
        <p:nvSpPr>
          <p:cNvPr id="11" name="Shape 9"/>
          <p:cNvSpPr/>
          <p:nvPr/>
        </p:nvSpPr>
        <p:spPr>
          <a:xfrm>
            <a:off x="457200" y="3200400"/>
            <a:ext cx="8229600" cy="548640"/>
          </a:xfrm>
          <a:prstGeom prst="rect">
            <a:avLst/>
          </a:prstGeom>
          <a:solidFill>
            <a:srgbClr val="27AE60"/>
          </a:solidFill>
          <a:ln w="12700">
            <a:solidFill>
              <a:srgbClr val="1E3A5F"/>
            </a:solidFill>
            <a:prstDash val="solid"/>
          </a:ln>
        </p:spPr>
        <p:txBody>
          <a:bodyPr/>
          <a:lstStyle/>
          <a:p>
            <a:endParaRPr lang="en-IN"/>
          </a:p>
        </p:txBody>
      </p:sp>
      <p:sp>
        <p:nvSpPr>
          <p:cNvPr id="12" name="Text 10"/>
          <p:cNvSpPr/>
          <p:nvPr/>
        </p:nvSpPr>
        <p:spPr>
          <a:xfrm>
            <a:off x="640080" y="3246120"/>
            <a:ext cx="365760" cy="45720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C</a:t>
            </a:r>
            <a:endParaRPr lang="en-US" sz="1600" dirty="0"/>
          </a:p>
        </p:txBody>
      </p:sp>
      <p:sp>
        <p:nvSpPr>
          <p:cNvPr id="13" name="Text 11"/>
          <p:cNvSpPr/>
          <p:nvPr/>
        </p:nvSpPr>
        <p:spPr>
          <a:xfrm>
            <a:off x="1188720" y="3291840"/>
            <a:ext cx="7315200" cy="36576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Personalized content addressing you by name</a:t>
            </a:r>
            <a:endParaRPr lang="en-US" sz="1300" dirty="0"/>
          </a:p>
        </p:txBody>
      </p:sp>
      <p:sp>
        <p:nvSpPr>
          <p:cNvPr id="14" name="Shape 12"/>
          <p:cNvSpPr/>
          <p:nvPr/>
        </p:nvSpPr>
        <p:spPr>
          <a:xfrm>
            <a:off x="457200" y="3840480"/>
            <a:ext cx="8229600" cy="548640"/>
          </a:xfrm>
          <a:prstGeom prst="rect">
            <a:avLst/>
          </a:prstGeom>
          <a:solidFill>
            <a:srgbClr val="FFFFFF"/>
          </a:solidFill>
          <a:ln w="12700">
            <a:solidFill>
              <a:srgbClr val="1E3A5F"/>
            </a:solidFill>
            <a:prstDash val="solid"/>
          </a:ln>
        </p:spPr>
        <p:txBody>
          <a:bodyPr/>
          <a:lstStyle/>
          <a:p>
            <a:endParaRPr lang="en-IN"/>
          </a:p>
        </p:txBody>
      </p:sp>
      <p:sp>
        <p:nvSpPr>
          <p:cNvPr id="15" name="Text 13"/>
          <p:cNvSpPr/>
          <p:nvPr/>
        </p:nvSpPr>
        <p:spPr>
          <a:xfrm>
            <a:off x="640080" y="388620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D</a:t>
            </a:r>
            <a:endParaRPr lang="en-US" sz="1600" dirty="0"/>
          </a:p>
        </p:txBody>
      </p:sp>
      <p:sp>
        <p:nvSpPr>
          <p:cNvPr id="16" name="Text 14"/>
          <p:cNvSpPr/>
          <p:nvPr/>
        </p:nvSpPr>
        <p:spPr>
          <a:xfrm>
            <a:off x="1188720" y="3931920"/>
            <a:ext cx="7315200" cy="365760"/>
          </a:xfrm>
          <a:prstGeom prst="rect">
            <a:avLst/>
          </a:prstGeom>
          <a:noFill/>
          <a:ln/>
        </p:spPr>
        <p:txBody>
          <a:bodyPr wrap="square" rtlCol="0" anchor="ctr"/>
          <a:lstStyle/>
          <a:p>
            <a:pPr marL="0" indent="0">
              <a:buNone/>
            </a:pPr>
            <a:r>
              <a:rPr lang="en-US" sz="1300" dirty="0">
                <a:solidFill>
                  <a:srgbClr val="2C3E50"/>
                </a:solidFill>
                <a:latin typeface="Arial" pitchFamily="34" charset="0"/>
                <a:ea typeface="Arial" pitchFamily="34" charset="-122"/>
                <a:cs typeface="Arial" pitchFamily="34" charset="-120"/>
              </a:rPr>
              <a:t>Requests for sensitive personal information</a:t>
            </a:r>
            <a:endParaRPr lang="en-US" sz="1300" dirty="0"/>
          </a:p>
        </p:txBody>
      </p:sp>
      <p:sp>
        <p:nvSpPr>
          <p:cNvPr id="17" name="Text 15"/>
          <p:cNvSpPr/>
          <p:nvPr/>
        </p:nvSpPr>
        <p:spPr>
          <a:xfrm>
            <a:off x="457200" y="4572000"/>
            <a:ext cx="8229600" cy="274320"/>
          </a:xfrm>
          <a:prstGeom prst="rect">
            <a:avLst/>
          </a:prstGeom>
          <a:noFill/>
          <a:ln/>
        </p:spPr>
        <p:txBody>
          <a:bodyPr wrap="square" rtlCol="0" anchor="ctr"/>
          <a:lstStyle/>
          <a:p>
            <a:pPr marL="0" indent="0">
              <a:buNone/>
            </a:pPr>
            <a:r>
              <a:rPr lang="en-US" sz="1100" i="1" dirty="0">
                <a:solidFill>
                  <a:srgbClr val="27AE60"/>
                </a:solidFill>
                <a:latin typeface="Arial" pitchFamily="34" charset="0"/>
                <a:ea typeface="Arial" pitchFamily="34" charset="-122"/>
                <a:cs typeface="Arial" pitchFamily="34" charset="-120"/>
              </a:rPr>
              <a:t>✓ Answer: C - Spear phishing emails can be highly personalized. Using your name doesn't make an email safe!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lIns="0" tIns="0" rIns="0" bIns="0" rtlCol="0" anchor="ctr"/>
          <a:lstStyle/>
          <a:p>
            <a:pPr marL="0" indent="0">
              <a:buNone/>
            </a:pPr>
            <a:r>
              <a:rPr lang="en-US" sz="3200" b="1" dirty="0">
                <a:solidFill>
                  <a:srgbClr val="1E3A5F"/>
                </a:solidFill>
                <a:latin typeface="Arial Black" pitchFamily="34" charset="0"/>
                <a:ea typeface="Arial Black" pitchFamily="34" charset="-122"/>
                <a:cs typeface="Arial Black" pitchFamily="34" charset="-120"/>
              </a:rPr>
              <a:t>Quiz Question 3 - Scenario</a:t>
            </a:r>
            <a:endParaRPr lang="en-US" sz="3200" dirty="0"/>
          </a:p>
        </p:txBody>
      </p:sp>
      <p:sp>
        <p:nvSpPr>
          <p:cNvPr id="3" name="Shape 1"/>
          <p:cNvSpPr/>
          <p:nvPr/>
        </p:nvSpPr>
        <p:spPr>
          <a:xfrm>
            <a:off x="457200" y="1005840"/>
            <a:ext cx="8229600" cy="10972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Text 2"/>
          <p:cNvSpPr/>
          <p:nvPr/>
        </p:nvSpPr>
        <p:spPr>
          <a:xfrm>
            <a:off x="640080" y="1188720"/>
            <a:ext cx="7863840" cy="822960"/>
          </a:xfrm>
          <a:prstGeom prst="rect">
            <a:avLst/>
          </a:prstGeom>
          <a:noFill/>
          <a:ln/>
        </p:spPr>
        <p:txBody>
          <a:bodyPr wrap="square" rtlCol="0" anchor="ctr"/>
          <a:lstStyle/>
          <a:p>
            <a:pPr marL="0" indent="0">
              <a:buNone/>
            </a:pPr>
            <a:r>
              <a:rPr lang="en-US" sz="1400" b="1" dirty="0">
                <a:solidFill>
                  <a:srgbClr val="2C3E50"/>
                </a:solidFill>
                <a:latin typeface="Arial" pitchFamily="34" charset="0"/>
                <a:ea typeface="Arial" pitchFamily="34" charset="-122"/>
                <a:cs typeface="Arial" pitchFamily="34" charset="-120"/>
              </a:rPr>
              <a:t>You get a call from someone claiming to be from your bank's fraud department. They say there's suspicious activity and need to 'verify' your account by having you read them the code sent to your phone. What should you do?</a:t>
            </a:r>
            <a:endParaRPr lang="en-US" sz="1400" dirty="0"/>
          </a:p>
        </p:txBody>
      </p:sp>
      <p:sp>
        <p:nvSpPr>
          <p:cNvPr id="5" name="Shape 3"/>
          <p:cNvSpPr/>
          <p:nvPr/>
        </p:nvSpPr>
        <p:spPr>
          <a:xfrm>
            <a:off x="457200" y="2286000"/>
            <a:ext cx="8229600" cy="548640"/>
          </a:xfrm>
          <a:prstGeom prst="rect">
            <a:avLst/>
          </a:prstGeom>
          <a:solidFill>
            <a:srgbClr val="FFFFFF"/>
          </a:solidFill>
          <a:ln w="12700">
            <a:solidFill>
              <a:srgbClr val="1E3A5F"/>
            </a:solidFill>
            <a:prstDash val="solid"/>
          </a:ln>
        </p:spPr>
        <p:txBody>
          <a:bodyPr/>
          <a:lstStyle/>
          <a:p>
            <a:endParaRPr lang="en-IN"/>
          </a:p>
        </p:txBody>
      </p:sp>
      <p:sp>
        <p:nvSpPr>
          <p:cNvPr id="6" name="Text 4"/>
          <p:cNvSpPr/>
          <p:nvPr/>
        </p:nvSpPr>
        <p:spPr>
          <a:xfrm>
            <a:off x="640080" y="233172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A</a:t>
            </a:r>
            <a:endParaRPr lang="en-US" sz="1600" dirty="0"/>
          </a:p>
        </p:txBody>
      </p:sp>
      <p:sp>
        <p:nvSpPr>
          <p:cNvPr id="7" name="Text 5"/>
          <p:cNvSpPr/>
          <p:nvPr/>
        </p:nvSpPr>
        <p:spPr>
          <a:xfrm>
            <a:off x="1188720" y="2359152"/>
            <a:ext cx="7315200" cy="411480"/>
          </a:xfrm>
          <a:prstGeom prst="rect">
            <a:avLst/>
          </a:prstGeom>
          <a:noFill/>
          <a:ln/>
        </p:spPr>
        <p:txBody>
          <a:bodyPr wrap="square" rtlCol="0" anchor="ctr"/>
          <a:lstStyle/>
          <a:p>
            <a:pPr marL="0" indent="0">
              <a:buNone/>
            </a:pPr>
            <a:r>
              <a:rPr lang="en-US" sz="1200" dirty="0">
                <a:solidFill>
                  <a:srgbClr val="2C3E50"/>
                </a:solidFill>
                <a:latin typeface="Arial" pitchFamily="34" charset="0"/>
                <a:ea typeface="Arial" pitchFamily="34" charset="-122"/>
                <a:cs typeface="Arial" pitchFamily="34" charset="-120"/>
              </a:rPr>
              <a:t>Provide the code since they're from the fraud department</a:t>
            </a:r>
            <a:endParaRPr lang="en-US" sz="1200" dirty="0"/>
          </a:p>
        </p:txBody>
      </p:sp>
      <p:sp>
        <p:nvSpPr>
          <p:cNvPr id="8" name="Shape 6"/>
          <p:cNvSpPr/>
          <p:nvPr/>
        </p:nvSpPr>
        <p:spPr>
          <a:xfrm>
            <a:off x="457200" y="2880360"/>
            <a:ext cx="8229600" cy="548640"/>
          </a:xfrm>
          <a:prstGeom prst="rect">
            <a:avLst/>
          </a:prstGeom>
          <a:solidFill>
            <a:srgbClr val="27AE60"/>
          </a:solidFill>
          <a:ln w="12700">
            <a:solidFill>
              <a:srgbClr val="1E3A5F"/>
            </a:solidFill>
            <a:prstDash val="solid"/>
          </a:ln>
        </p:spPr>
        <p:txBody>
          <a:bodyPr/>
          <a:lstStyle/>
          <a:p>
            <a:endParaRPr lang="en-IN"/>
          </a:p>
        </p:txBody>
      </p:sp>
      <p:sp>
        <p:nvSpPr>
          <p:cNvPr id="9" name="Text 7"/>
          <p:cNvSpPr/>
          <p:nvPr/>
        </p:nvSpPr>
        <p:spPr>
          <a:xfrm>
            <a:off x="640080" y="2926080"/>
            <a:ext cx="365760" cy="45720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B</a:t>
            </a:r>
            <a:endParaRPr lang="en-US" sz="1600" dirty="0"/>
          </a:p>
        </p:txBody>
      </p:sp>
      <p:sp>
        <p:nvSpPr>
          <p:cNvPr id="10" name="Text 8"/>
          <p:cNvSpPr/>
          <p:nvPr/>
        </p:nvSpPr>
        <p:spPr>
          <a:xfrm>
            <a:off x="1188720" y="2953512"/>
            <a:ext cx="7315200" cy="411480"/>
          </a:xfrm>
          <a:prstGeom prst="rect">
            <a:avLst/>
          </a:prstGeom>
          <a:noFill/>
          <a:ln/>
        </p:spPr>
        <p:txBody>
          <a:bodyPr wrap="square" rtlCol="0" anchor="ctr"/>
          <a:lstStyle/>
          <a:p>
            <a:pPr marL="0" indent="0">
              <a:buNone/>
            </a:pPr>
            <a:r>
              <a:rPr lang="en-US" sz="1200" dirty="0">
                <a:solidFill>
                  <a:srgbClr val="FFFFFF"/>
                </a:solidFill>
                <a:latin typeface="Arial" pitchFamily="34" charset="0"/>
                <a:ea typeface="Arial" pitchFamily="34" charset="-122"/>
                <a:cs typeface="Arial" pitchFamily="34" charset="-120"/>
              </a:rPr>
              <a:t>Hang up and call your bank using the official number on their website or your card</a:t>
            </a:r>
            <a:endParaRPr lang="en-US" sz="1200" dirty="0"/>
          </a:p>
        </p:txBody>
      </p:sp>
      <p:sp>
        <p:nvSpPr>
          <p:cNvPr id="11" name="Shape 9"/>
          <p:cNvSpPr/>
          <p:nvPr/>
        </p:nvSpPr>
        <p:spPr>
          <a:xfrm>
            <a:off x="457200" y="3474720"/>
            <a:ext cx="8229600" cy="548640"/>
          </a:xfrm>
          <a:prstGeom prst="rect">
            <a:avLst/>
          </a:prstGeom>
          <a:solidFill>
            <a:srgbClr val="FFFFFF"/>
          </a:solidFill>
          <a:ln w="12700">
            <a:solidFill>
              <a:srgbClr val="1E3A5F"/>
            </a:solidFill>
            <a:prstDash val="solid"/>
          </a:ln>
        </p:spPr>
        <p:txBody>
          <a:bodyPr/>
          <a:lstStyle/>
          <a:p>
            <a:endParaRPr lang="en-IN"/>
          </a:p>
        </p:txBody>
      </p:sp>
      <p:sp>
        <p:nvSpPr>
          <p:cNvPr id="12" name="Text 10"/>
          <p:cNvSpPr/>
          <p:nvPr/>
        </p:nvSpPr>
        <p:spPr>
          <a:xfrm>
            <a:off x="640080" y="352044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C</a:t>
            </a:r>
            <a:endParaRPr lang="en-US" sz="1600" dirty="0"/>
          </a:p>
        </p:txBody>
      </p:sp>
      <p:sp>
        <p:nvSpPr>
          <p:cNvPr id="13" name="Text 11"/>
          <p:cNvSpPr/>
          <p:nvPr/>
        </p:nvSpPr>
        <p:spPr>
          <a:xfrm>
            <a:off x="1188720" y="3547872"/>
            <a:ext cx="7315200" cy="411480"/>
          </a:xfrm>
          <a:prstGeom prst="rect">
            <a:avLst/>
          </a:prstGeom>
          <a:noFill/>
          <a:ln/>
        </p:spPr>
        <p:txBody>
          <a:bodyPr wrap="square" rtlCol="0" anchor="ctr"/>
          <a:lstStyle/>
          <a:p>
            <a:pPr marL="0" indent="0">
              <a:buNone/>
            </a:pPr>
            <a:r>
              <a:rPr lang="en-US" sz="1200" dirty="0">
                <a:solidFill>
                  <a:srgbClr val="2C3E50"/>
                </a:solidFill>
                <a:latin typeface="Arial" pitchFamily="34" charset="0"/>
                <a:ea typeface="Arial" pitchFamily="34" charset="-122"/>
                <a:cs typeface="Arial" pitchFamily="34" charset="-120"/>
              </a:rPr>
              <a:t>Ask them for their employee ID number first</a:t>
            </a:r>
            <a:endParaRPr lang="en-US" sz="1200" dirty="0"/>
          </a:p>
        </p:txBody>
      </p:sp>
      <p:sp>
        <p:nvSpPr>
          <p:cNvPr id="14" name="Shape 12"/>
          <p:cNvSpPr/>
          <p:nvPr/>
        </p:nvSpPr>
        <p:spPr>
          <a:xfrm>
            <a:off x="457200" y="4069080"/>
            <a:ext cx="8229600" cy="548640"/>
          </a:xfrm>
          <a:prstGeom prst="rect">
            <a:avLst/>
          </a:prstGeom>
          <a:solidFill>
            <a:srgbClr val="FFFFFF"/>
          </a:solidFill>
          <a:ln w="12700">
            <a:solidFill>
              <a:srgbClr val="1E3A5F"/>
            </a:solidFill>
            <a:prstDash val="solid"/>
          </a:ln>
        </p:spPr>
        <p:txBody>
          <a:bodyPr/>
          <a:lstStyle/>
          <a:p>
            <a:endParaRPr lang="en-IN"/>
          </a:p>
        </p:txBody>
      </p:sp>
      <p:sp>
        <p:nvSpPr>
          <p:cNvPr id="15" name="Text 13"/>
          <p:cNvSpPr/>
          <p:nvPr/>
        </p:nvSpPr>
        <p:spPr>
          <a:xfrm>
            <a:off x="640080" y="4114800"/>
            <a:ext cx="365760" cy="457200"/>
          </a:xfrm>
          <a:prstGeom prst="rect">
            <a:avLst/>
          </a:prstGeom>
          <a:noFill/>
          <a:ln/>
        </p:spPr>
        <p:txBody>
          <a:bodyPr wrap="square" rtlCol="0" anchor="ctr"/>
          <a:lstStyle/>
          <a:p>
            <a:pPr marL="0" indent="0" algn="ctr">
              <a:buNone/>
            </a:pPr>
            <a:r>
              <a:rPr lang="en-US" sz="1600" b="1" dirty="0">
                <a:solidFill>
                  <a:srgbClr val="1E3A5F"/>
                </a:solidFill>
                <a:latin typeface="Arial Black" pitchFamily="34" charset="0"/>
                <a:ea typeface="Arial Black" pitchFamily="34" charset="-122"/>
                <a:cs typeface="Arial Black" pitchFamily="34" charset="-120"/>
              </a:rPr>
              <a:t>D</a:t>
            </a:r>
            <a:endParaRPr lang="en-US" sz="1600" dirty="0"/>
          </a:p>
        </p:txBody>
      </p:sp>
      <p:sp>
        <p:nvSpPr>
          <p:cNvPr id="16" name="Text 14"/>
          <p:cNvSpPr/>
          <p:nvPr/>
        </p:nvSpPr>
        <p:spPr>
          <a:xfrm>
            <a:off x="1188720" y="4142232"/>
            <a:ext cx="7315200" cy="411480"/>
          </a:xfrm>
          <a:prstGeom prst="rect">
            <a:avLst/>
          </a:prstGeom>
          <a:noFill/>
          <a:ln/>
        </p:spPr>
        <p:txBody>
          <a:bodyPr wrap="square" rtlCol="0" anchor="ctr"/>
          <a:lstStyle/>
          <a:p>
            <a:pPr marL="0" indent="0">
              <a:buNone/>
            </a:pPr>
            <a:r>
              <a:rPr lang="en-US" sz="1200" dirty="0">
                <a:solidFill>
                  <a:srgbClr val="2C3E50"/>
                </a:solidFill>
                <a:latin typeface="Arial" pitchFamily="34" charset="0"/>
                <a:ea typeface="Arial" pitchFamily="34" charset="-122"/>
                <a:cs typeface="Arial" pitchFamily="34" charset="-120"/>
              </a:rPr>
              <a:t>Check your account online while on the call</a:t>
            </a:r>
            <a:endParaRPr lang="en-US" sz="1200" dirty="0"/>
          </a:p>
        </p:txBody>
      </p:sp>
      <p:sp>
        <p:nvSpPr>
          <p:cNvPr id="17" name="Text 15"/>
          <p:cNvSpPr/>
          <p:nvPr/>
        </p:nvSpPr>
        <p:spPr>
          <a:xfrm>
            <a:off x="457200" y="4663440"/>
            <a:ext cx="8229600" cy="365760"/>
          </a:xfrm>
          <a:prstGeom prst="rect">
            <a:avLst/>
          </a:prstGeom>
          <a:noFill/>
          <a:ln/>
        </p:spPr>
        <p:txBody>
          <a:bodyPr wrap="square" rtlCol="0" anchor="ctr"/>
          <a:lstStyle/>
          <a:p>
            <a:pPr marL="0" indent="0">
              <a:buNone/>
            </a:pPr>
            <a:r>
              <a:rPr lang="en-US" sz="1100" i="1" dirty="0">
                <a:solidFill>
                  <a:srgbClr val="27AE60"/>
                </a:solidFill>
                <a:latin typeface="Arial" pitchFamily="34" charset="0"/>
                <a:ea typeface="Arial" pitchFamily="34" charset="-122"/>
                <a:cs typeface="Arial" pitchFamily="34" charset="-120"/>
              </a:rPr>
              <a:t>✓ Answer: B - Never share verification codes. Legitimate organizations won't ask for them. Always call back using official numbers.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4000" b="1" dirty="0">
                <a:solidFill>
                  <a:srgbClr val="1E3A5F"/>
                </a:solidFill>
                <a:latin typeface="Times New Roman" panose="02020603050405020304" pitchFamily="18" charset="0"/>
                <a:ea typeface="Arial Black" pitchFamily="34" charset="-122"/>
                <a:cs typeface="Times New Roman" panose="02020603050405020304" pitchFamily="18" charset="0"/>
              </a:rPr>
              <a:t>Key Takeaways</a:t>
            </a:r>
            <a:endParaRPr lang="en-US" sz="40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4199708" y="429768"/>
            <a:ext cx="548640" cy="548640"/>
          </a:xfrm>
          <a:prstGeom prst="rect">
            <a:avLst/>
          </a:prstGeom>
        </p:spPr>
      </p:pic>
      <p:sp>
        <p:nvSpPr>
          <p:cNvPr id="4" name="Text 1"/>
          <p:cNvSpPr/>
          <p:nvPr/>
        </p:nvSpPr>
        <p:spPr>
          <a:xfrm>
            <a:off x="1371600" y="1920240"/>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Phishing attacks exploit human psychology, not just technology</a:t>
            </a:r>
            <a:endParaRPr lang="en-US" sz="1600" dirty="0">
              <a:latin typeface="Times New Roman" panose="02020603050405020304" pitchFamily="18" charset="0"/>
              <a:cs typeface="Times New Roman" panose="02020603050405020304" pitchFamily="18" charset="0"/>
            </a:endParaRPr>
          </a:p>
        </p:txBody>
      </p:sp>
      <p:sp>
        <p:nvSpPr>
          <p:cNvPr id="5" name="Text 2"/>
          <p:cNvSpPr/>
          <p:nvPr/>
        </p:nvSpPr>
        <p:spPr>
          <a:xfrm>
            <a:off x="1371600" y="2304288"/>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Always verify sender identities through official channels</a:t>
            </a:r>
            <a:endParaRPr lang="en-US" sz="1600" dirty="0">
              <a:latin typeface="Times New Roman" panose="02020603050405020304" pitchFamily="18" charset="0"/>
              <a:cs typeface="Times New Roman" panose="02020603050405020304" pitchFamily="18" charset="0"/>
            </a:endParaRPr>
          </a:p>
        </p:txBody>
      </p:sp>
      <p:sp>
        <p:nvSpPr>
          <p:cNvPr id="6" name="Text 3"/>
          <p:cNvSpPr/>
          <p:nvPr/>
        </p:nvSpPr>
        <p:spPr>
          <a:xfrm>
            <a:off x="1371600" y="2688336"/>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Hover over links and check URLs before clicking</a:t>
            </a:r>
            <a:endParaRPr lang="en-US" sz="1600" dirty="0">
              <a:latin typeface="Times New Roman" panose="02020603050405020304" pitchFamily="18" charset="0"/>
              <a:cs typeface="Times New Roman" panose="02020603050405020304" pitchFamily="18" charset="0"/>
            </a:endParaRPr>
          </a:p>
        </p:txBody>
      </p:sp>
      <p:sp>
        <p:nvSpPr>
          <p:cNvPr id="7" name="Text 4"/>
          <p:cNvSpPr/>
          <p:nvPr/>
        </p:nvSpPr>
        <p:spPr>
          <a:xfrm>
            <a:off x="1371600" y="3072384"/>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Be suspicious of urgency, fear tactics, and requests for sensitive data</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1371600" y="3456432"/>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Enable multi-factor authentication on all accounts</a:t>
            </a:r>
            <a:endParaRPr lang="en-US" sz="1600" dirty="0">
              <a:latin typeface="Times New Roman" panose="02020603050405020304" pitchFamily="18" charset="0"/>
              <a:cs typeface="Times New Roman" panose="02020603050405020304" pitchFamily="18" charset="0"/>
            </a:endParaRPr>
          </a:p>
        </p:txBody>
      </p:sp>
      <p:sp>
        <p:nvSpPr>
          <p:cNvPr id="9" name="Text 6"/>
          <p:cNvSpPr/>
          <p:nvPr/>
        </p:nvSpPr>
        <p:spPr>
          <a:xfrm>
            <a:off x="1371600" y="3840480"/>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Report suspicious emails to your IT security team</a:t>
            </a:r>
            <a:endParaRPr lang="en-US" sz="1600" dirty="0">
              <a:latin typeface="Times New Roman" panose="02020603050405020304" pitchFamily="18" charset="0"/>
              <a:cs typeface="Times New Roman" panose="02020603050405020304" pitchFamily="18" charset="0"/>
            </a:endParaRPr>
          </a:p>
        </p:txBody>
      </p:sp>
      <p:sp>
        <p:nvSpPr>
          <p:cNvPr id="10" name="Text 7"/>
          <p:cNvSpPr/>
          <p:nvPr/>
        </p:nvSpPr>
        <p:spPr>
          <a:xfrm>
            <a:off x="1371600" y="4224528"/>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When in doubt, don't click - contact the organization directly</a:t>
            </a:r>
            <a:endParaRPr lang="en-US" sz="1600" dirty="0">
              <a:latin typeface="Times New Roman" panose="02020603050405020304" pitchFamily="18" charset="0"/>
              <a:cs typeface="Times New Roman" panose="02020603050405020304" pitchFamily="18" charset="0"/>
            </a:endParaRPr>
          </a:p>
        </p:txBody>
      </p:sp>
      <p:sp>
        <p:nvSpPr>
          <p:cNvPr id="11" name="Text 8"/>
          <p:cNvSpPr/>
          <p:nvPr/>
        </p:nvSpPr>
        <p:spPr>
          <a:xfrm>
            <a:off x="1371600" y="4608576"/>
            <a:ext cx="7132320" cy="320040"/>
          </a:xfrm>
          <a:prstGeom prst="rect">
            <a:avLst/>
          </a:prstGeom>
          <a:noFill/>
          <a:ln/>
        </p:spPr>
        <p:txBody>
          <a:bodyPr wrap="square" rtlCol="0" anchor="ctr"/>
          <a:lstStyle/>
          <a:p>
            <a:pPr marL="0" indent="0">
              <a:buNone/>
            </a:pPr>
            <a:r>
              <a:rPr lang="en-US" sz="1600" b="1" dirty="0">
                <a:solidFill>
                  <a:srgbClr val="F39C12"/>
                </a:solidFill>
                <a:latin typeface="Times New Roman" panose="02020603050405020304" pitchFamily="18" charset="0"/>
                <a:ea typeface="Arial" pitchFamily="34" charset="-122"/>
                <a:cs typeface="Times New Roman" panose="02020603050405020304" pitchFamily="18" charset="0"/>
              </a:rPr>
              <a:t>• </a:t>
            </a:r>
            <a:r>
              <a:rPr lang="en-US" sz="1300" dirty="0">
                <a:solidFill>
                  <a:srgbClr val="2C3E50"/>
                </a:solidFill>
                <a:latin typeface="Times New Roman" panose="02020603050405020304" pitchFamily="18" charset="0"/>
                <a:ea typeface="Arial" pitchFamily="34" charset="-122"/>
                <a:cs typeface="Times New Roman" panose="02020603050405020304" pitchFamily="18" charset="0"/>
              </a:rPr>
              <a:t>Stay informed about new phishing techniques and scams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3A5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977640" y="809898"/>
            <a:ext cx="914400" cy="914400"/>
          </a:xfrm>
          <a:prstGeom prst="rect">
            <a:avLst/>
          </a:prstGeom>
        </p:spPr>
      </p:pic>
      <p:sp>
        <p:nvSpPr>
          <p:cNvPr id="3" name="Text 0"/>
          <p:cNvSpPr/>
          <p:nvPr/>
        </p:nvSpPr>
        <p:spPr>
          <a:xfrm>
            <a:off x="333103" y="2266406"/>
            <a:ext cx="8353697" cy="659674"/>
          </a:xfrm>
          <a:prstGeom prst="rect">
            <a:avLst/>
          </a:prstGeom>
          <a:noFill/>
          <a:ln/>
        </p:spPr>
        <p:txBody>
          <a:bodyPr wrap="square" rtlCol="0" anchor="ctr"/>
          <a:lstStyle/>
          <a:p>
            <a:pPr marL="0" indent="0" algn="ctr">
              <a:buNone/>
            </a:pPr>
            <a:r>
              <a:rPr lang="en-US" sz="4200" b="1" dirty="0">
                <a:solidFill>
                  <a:srgbClr val="FFFFFF"/>
                </a:solidFill>
                <a:latin typeface="Arial Black" pitchFamily="34" charset="0"/>
                <a:ea typeface="Arial Black" pitchFamily="34" charset="-122"/>
                <a:cs typeface="Arial Black" pitchFamily="34" charset="-120"/>
              </a:rPr>
              <a:t>STAY VIGILANT, STAY SECURE</a:t>
            </a:r>
            <a:endParaRPr lang="en-US" sz="4200" dirty="0"/>
          </a:p>
        </p:txBody>
      </p:sp>
      <p:sp>
        <p:nvSpPr>
          <p:cNvPr id="4" name="Text 1"/>
          <p:cNvSpPr/>
          <p:nvPr/>
        </p:nvSpPr>
        <p:spPr>
          <a:xfrm>
            <a:off x="457200" y="3206931"/>
            <a:ext cx="8229600" cy="365760"/>
          </a:xfrm>
          <a:prstGeom prst="rect">
            <a:avLst/>
          </a:prstGeom>
          <a:noFill/>
          <a:ln/>
        </p:spPr>
        <p:txBody>
          <a:bodyPr wrap="square" rtlCol="0" anchor="ctr"/>
          <a:lstStyle/>
          <a:p>
            <a:pPr marL="0" indent="0" algn="ctr">
              <a:buNone/>
            </a:pPr>
            <a:r>
              <a:rPr lang="en-US" sz="1600" i="1" dirty="0">
                <a:solidFill>
                  <a:srgbClr val="F39C12"/>
                </a:solidFill>
                <a:latin typeface="Arial" pitchFamily="34" charset="0"/>
                <a:ea typeface="Arial" pitchFamily="34" charset="-122"/>
                <a:cs typeface="Arial" pitchFamily="34" charset="-120"/>
              </a:rPr>
              <a:t>Remember: Security is everyone's responsibility</a:t>
            </a:r>
            <a:endParaRPr lang="en-US" sz="1600" dirty="0"/>
          </a:p>
        </p:txBody>
      </p:sp>
      <p:sp>
        <p:nvSpPr>
          <p:cNvPr id="5" name="Shape 2"/>
          <p:cNvSpPr/>
          <p:nvPr/>
        </p:nvSpPr>
        <p:spPr>
          <a:xfrm>
            <a:off x="1371600" y="3840479"/>
            <a:ext cx="6655526" cy="1051561"/>
          </a:xfrm>
          <a:prstGeom prst="rect">
            <a:avLst/>
          </a:prstGeom>
          <a:solidFill>
            <a:srgbClr val="C41E3A"/>
          </a:solidFill>
          <a:ln/>
        </p:spPr>
        <p:txBody>
          <a:bodyPr/>
          <a:lstStyle/>
          <a:p>
            <a:endParaRPr lang="en-IN"/>
          </a:p>
        </p:txBody>
      </p:sp>
      <p:sp>
        <p:nvSpPr>
          <p:cNvPr id="6" name="Text 3"/>
          <p:cNvSpPr/>
          <p:nvPr/>
        </p:nvSpPr>
        <p:spPr>
          <a:xfrm>
            <a:off x="1371600" y="3624943"/>
            <a:ext cx="6035040" cy="22860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ADDITIONAL RESOURCES</a:t>
            </a:r>
            <a:endParaRPr lang="en-US" sz="1200" dirty="0"/>
          </a:p>
        </p:txBody>
      </p:sp>
      <p:sp>
        <p:nvSpPr>
          <p:cNvPr id="7" name="Text 4"/>
          <p:cNvSpPr/>
          <p:nvPr/>
        </p:nvSpPr>
        <p:spPr>
          <a:xfrm>
            <a:off x="1417320" y="3954780"/>
            <a:ext cx="6035040" cy="878477"/>
          </a:xfrm>
          <a:prstGeom prst="rect">
            <a:avLst/>
          </a:prstGeom>
          <a:noFill/>
          <a:ln/>
        </p:spPr>
        <p:txBody>
          <a:bodyPr wrap="square" rtlCol="0" anchor="ctr"/>
          <a:lstStyle/>
          <a:p>
            <a:pPr marL="0" indent="0">
              <a:buNone/>
            </a:pPr>
            <a:r>
              <a:rPr lang="en-US" sz="1050" b="1" dirty="0">
                <a:solidFill>
                  <a:srgbClr val="FFFFFF"/>
                </a:solidFill>
                <a:latin typeface="Times New Roman" panose="02020603050405020304" pitchFamily="18" charset="0"/>
                <a:ea typeface="Arial" pitchFamily="34" charset="-122"/>
                <a:cs typeface="Times New Roman" panose="02020603050405020304" pitchFamily="18" charset="0"/>
              </a:rPr>
              <a:t>• Report phishing: </a:t>
            </a:r>
            <a:r>
              <a:rPr lang="en-US" sz="1050" dirty="0">
                <a:solidFill>
                  <a:srgbClr val="FFFFFF"/>
                </a:solidFill>
                <a:latin typeface="Times New Roman" panose="02020603050405020304" pitchFamily="18" charset="0"/>
                <a:ea typeface="Arial" pitchFamily="34" charset="-122"/>
                <a:cs typeface="Times New Roman" panose="02020603050405020304" pitchFamily="18" charset="0"/>
              </a:rPr>
              <a:t>security@yourcompany.com</a:t>
            </a:r>
            <a:endParaRPr lang="en-US" sz="1050" dirty="0">
              <a:latin typeface="Times New Roman" panose="02020603050405020304" pitchFamily="18" charset="0"/>
              <a:cs typeface="Times New Roman" panose="02020603050405020304" pitchFamily="18" charset="0"/>
            </a:endParaRPr>
          </a:p>
          <a:p>
            <a:pPr marL="0" indent="0">
              <a:buNone/>
            </a:pPr>
            <a:r>
              <a:rPr lang="en-US" sz="1050" b="1" dirty="0">
                <a:solidFill>
                  <a:srgbClr val="FFFFFF"/>
                </a:solidFill>
                <a:latin typeface="Times New Roman" panose="02020603050405020304" pitchFamily="18" charset="0"/>
                <a:ea typeface="Arial" pitchFamily="34" charset="-122"/>
                <a:cs typeface="Times New Roman" panose="02020603050405020304" pitchFamily="18" charset="0"/>
              </a:rPr>
              <a:t>• Anti-Phishing Working Group: </a:t>
            </a:r>
            <a:endParaRPr lang="en-US" sz="1050" dirty="0">
              <a:latin typeface="Times New Roman" panose="02020603050405020304" pitchFamily="18" charset="0"/>
              <a:cs typeface="Times New Roman" panose="02020603050405020304" pitchFamily="18" charset="0"/>
            </a:endParaRPr>
          </a:p>
          <a:p>
            <a:pPr marL="0" indent="0">
              <a:buNone/>
            </a:pPr>
            <a:r>
              <a:rPr lang="en-US" sz="1050" dirty="0">
                <a:solidFill>
                  <a:srgbClr val="FFFFFF"/>
                </a:solidFill>
                <a:latin typeface="Times New Roman" panose="02020603050405020304" pitchFamily="18" charset="0"/>
                <a:ea typeface="Arial" pitchFamily="34" charset="-122"/>
                <a:cs typeface="Times New Roman" panose="02020603050405020304" pitchFamily="18" charset="0"/>
              </a:rPr>
              <a:t>apwg.org</a:t>
            </a:r>
            <a:endParaRPr lang="en-US" sz="1050" dirty="0">
              <a:latin typeface="Times New Roman" panose="02020603050405020304" pitchFamily="18" charset="0"/>
              <a:cs typeface="Times New Roman" panose="02020603050405020304" pitchFamily="18" charset="0"/>
            </a:endParaRPr>
          </a:p>
          <a:p>
            <a:pPr marL="0" indent="0">
              <a:buNone/>
            </a:pPr>
            <a:r>
              <a:rPr lang="en-US" sz="1050" b="1" dirty="0">
                <a:solidFill>
                  <a:srgbClr val="FFFFFF"/>
                </a:solidFill>
                <a:latin typeface="Times New Roman" panose="02020603050405020304" pitchFamily="18" charset="0"/>
                <a:ea typeface="Arial" pitchFamily="34" charset="-122"/>
                <a:cs typeface="Times New Roman" panose="02020603050405020304" pitchFamily="18" charset="0"/>
              </a:rPr>
              <a:t>• US FTC Report: </a:t>
            </a:r>
            <a:endParaRPr lang="en-US" sz="1050" dirty="0">
              <a:latin typeface="Times New Roman" panose="02020603050405020304" pitchFamily="18" charset="0"/>
              <a:cs typeface="Times New Roman" panose="02020603050405020304" pitchFamily="18" charset="0"/>
            </a:endParaRPr>
          </a:p>
          <a:p>
            <a:pPr marL="0" indent="0">
              <a:buNone/>
            </a:pPr>
            <a:r>
              <a:rPr lang="en-US" sz="1050" dirty="0">
                <a:solidFill>
                  <a:srgbClr val="FFFFFF"/>
                </a:solidFill>
                <a:latin typeface="Times New Roman" panose="02020603050405020304" pitchFamily="18" charset="0"/>
                <a:ea typeface="Arial" pitchFamily="34" charset="-122"/>
                <a:cs typeface="Times New Roman" panose="02020603050405020304" pitchFamily="18" charset="0"/>
              </a:rPr>
              <a:t>reportfraud.ftc.gov</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1113</Words>
  <Application>Microsoft Office PowerPoint</Application>
  <PresentationFormat>On-screen Show (16:9)</PresentationFormat>
  <Paragraphs>173</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subject>PptxGenJS Presentation</dc:subject>
  <dc:creator>Security Training Team</dc:creator>
  <cp:lastModifiedBy>Naveen Kumar</cp:lastModifiedBy>
  <cp:revision>2</cp:revision>
  <dcterms:created xsi:type="dcterms:W3CDTF">2026-02-09T06:00:01Z</dcterms:created>
  <dcterms:modified xsi:type="dcterms:W3CDTF">2026-02-09T06:18:30Z</dcterms:modified>
</cp:coreProperties>
</file>